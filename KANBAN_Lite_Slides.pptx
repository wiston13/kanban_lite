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20 秒。開場：這次作品是 KANBAN Lite，一個小型任務流程管理系統。我的重點不是做很大的 ERP，而是透過一個能操作的看板專案，邊做邊理解 SDLC。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35 秒。這頁不是介紹作品，而是先說 Kanban 本身。Kanban 是一種敏捷管理方法，用視覺化看板追蹤不同完成階段。它的精神是持續改進與拉動式流程，不是一次把大量工作推給團隊。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40 秒。重點是：Kanban 本身就是項目管理方法，所以我想用這個題目來理解 SDLC。從需求、規劃、設計、實作、測試到修正，都可以用看板的方式追蹤。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15 秒。這頁可以快速帶過，主要說明有安排專題時程，後面直接進入作品與展示。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45 秒。這裡只講總覽，不要逐項細講，因為下一頁會進入實際展示。說明作品分成 Dashboard、看板、任務 CRUD、資料保存四個部分。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90 到 120 秒。照這五步展示，不要臨時亂開功能。重點是讓老師看到完整流程：看總覽、看任務、新增、編輯刪除、拖曳、回總覽看統計同步。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35 秒。這頁要誠實但不要把自己講得像全靠 AI。CSS 的初始視覺基底使用 AI 較多，但 JS 核心流程自己有理解與整合。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50 秒。這頁照四個困難講：功能架構、元件化、邊界條件、防禦性程式碼、Git commit 時機。要強調 AI 在這裡是協助我看見盲點，而不是直接替我完成整個專題。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附錄頁。這頁通常不用講太久，若老師問資料來源或工具再快速帶過即可。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ANBAN Lite - My Board.png"/>
          <p:cNvPicPr>
            <a:picLocks noChangeAspect="1"/>
          </p:cNvPicPr>
          <p:nvPr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1097280" y="411480"/>
            <a:ext cx="11064240" cy="5394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>
              <a:alpha val="92000"/>
            </a:srgbClr>
          </a:solidFill>
          <a:ln w="12700">
            <a:solidFill>
              <a:srgbClr val="0F111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>
              <a:alpha val="84000"/>
            </a:srgbClr>
          </a:solidFill>
          <a:ln w="12700">
            <a:solidFill>
              <a:srgbClr val="0F111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02412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6D7CFF">
              <a:alpha val="85000"/>
            </a:srgbClr>
          </a:solidFill>
          <a:ln w="12700">
            <a:solidFill>
              <a:srgbClr val="6D7C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090422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31720" y="1024128"/>
            <a:ext cx="804672" cy="292608"/>
          </a:xfrm>
          <a:prstGeom prst="roundRect">
            <a:avLst>
              <a:gd name="adj" fmla="val 25000"/>
            </a:avLst>
          </a:prstGeom>
          <a:solidFill>
            <a:srgbClr val="3DD68C">
              <a:alpha val="85000"/>
            </a:srgbClr>
          </a:solidFill>
          <a:ln w="12700">
            <a:solidFill>
              <a:srgbClr val="3DD68C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95728" y="109728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專案管理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24128"/>
            <a:ext cx="900430" cy="292608"/>
          </a:xfrm>
          <a:prstGeom prst="roundRect">
            <a:avLst>
              <a:gd name="adj" fmla="val 25000"/>
            </a:avLst>
          </a:prstGeom>
          <a:solidFill>
            <a:srgbClr val="F5B942">
              <a:alpha val="85000"/>
            </a:srgbClr>
          </a:solidFill>
          <a:ln w="12700">
            <a:solidFill>
              <a:srgbClr val="F5B942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68396" y="1097280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滾動規劃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187452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</a:t>
            </a:r>
            <a:endParaRPr lang="en-US" sz="4500" dirty="0"/>
          </a:p>
        </p:txBody>
      </p:sp>
      <p:sp>
        <p:nvSpPr>
          <p:cNvPr id="13" name="Text 10"/>
          <p:cNvSpPr/>
          <p:nvPr/>
        </p:nvSpPr>
        <p:spPr>
          <a:xfrm>
            <a:off x="749808" y="26334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7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小型任務流程管理系統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8096" y="3090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期中專題報告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201400" y="6263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5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87175DD8-4287-6EBB-7C03-A2E5AD7C1796}"/>
              </a:ext>
            </a:extLst>
          </p:cNvPr>
          <p:cNvSpPr/>
          <p:nvPr/>
        </p:nvSpPr>
        <p:spPr>
          <a:xfrm>
            <a:off x="749808" y="3886200"/>
            <a:ext cx="2468880" cy="292608"/>
          </a:xfrm>
          <a:prstGeom prst="rect">
            <a:avLst/>
          </a:prstGeom>
          <a:solidFill>
            <a:srgbClr val="6D7CFF">
              <a:alpha val="16000"/>
            </a:srgbClr>
          </a:solidFill>
          <a:ln w="12700">
            <a:solidFill>
              <a:srgbClr val="6D7CFF">
                <a:alpha val="8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7CFF"/>
                </a:solidFill>
              </a:rPr>
              <a:t>Task｜Dashboard｜Workflow</a:t>
            </a:r>
            <a:endParaRPr lang="en-US" sz="1100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62C1524A-0D69-CF3D-CA35-8EE682F467A0}"/>
              </a:ext>
            </a:extLst>
          </p:cNvPr>
          <p:cNvSpPr/>
          <p:nvPr/>
        </p:nvSpPr>
        <p:spPr>
          <a:xfrm>
            <a:off x="7726680" y="1024128"/>
            <a:ext cx="3931920" cy="4572000"/>
          </a:xfrm>
          <a:prstGeom prst="roundRect">
            <a:avLst>
              <a:gd name="adj" fmla="val 2791"/>
            </a:avLst>
          </a:prstGeom>
          <a:solidFill>
            <a:srgbClr val="121621"/>
          </a:solidFill>
          <a:ln w="12700">
            <a:solidFill>
              <a:srgbClr val="33405A">
                <a:alpha val="85000"/>
              </a:srgbClr>
            </a:solidFill>
            <a:prstDash val="solid"/>
          </a:ln>
        </p:spPr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5940B0FA-87E6-0364-CAD8-ADFCE56257AD}"/>
              </a:ext>
            </a:extLst>
          </p:cNvPr>
          <p:cNvSpPr/>
          <p:nvPr/>
        </p:nvSpPr>
        <p:spPr>
          <a:xfrm>
            <a:off x="7955280" y="1344168"/>
            <a:ext cx="1042416" cy="3749040"/>
          </a:xfrm>
          <a:prstGeom prst="roundRect">
            <a:avLst>
              <a:gd name="adj" fmla="val 10526"/>
            </a:avLst>
          </a:prstGeom>
          <a:solidFill>
            <a:srgbClr val="1A2030"/>
          </a:solidFill>
          <a:ln w="12700">
            <a:solidFill>
              <a:srgbClr val="33405A">
                <a:alpha val="85000"/>
              </a:srgbClr>
            </a:solidFill>
            <a:prstDash val="solid"/>
          </a:ln>
        </p:spPr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35DB1EA1-89C3-6E25-A9B5-527F0046740B}"/>
              </a:ext>
            </a:extLst>
          </p:cNvPr>
          <p:cNvSpPr/>
          <p:nvPr/>
        </p:nvSpPr>
        <p:spPr>
          <a:xfrm>
            <a:off x="8028432" y="1554480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4F6"/>
                </a:solidFill>
              </a:rPr>
              <a:t>To Do</a:t>
            </a:r>
            <a:endParaRPr lang="en-US" sz="1000" dirty="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5E4C56AF-46C8-37A4-B896-66666329DC3B}"/>
              </a:ext>
            </a:extLst>
          </p:cNvPr>
          <p:cNvSpPr/>
          <p:nvPr/>
        </p:nvSpPr>
        <p:spPr>
          <a:xfrm>
            <a:off x="8065008" y="1984248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252D3D"/>
          </a:solidFill>
          <a:ln w="12700">
            <a:solidFill>
              <a:srgbClr val="748094">
                <a:alpha val="60000"/>
              </a:srgbClr>
            </a:solidFill>
            <a:prstDash val="solid"/>
          </a:ln>
        </p:spPr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25DEFBBF-975D-36F1-2959-28B184BADA08}"/>
              </a:ext>
            </a:extLst>
          </p:cNvPr>
          <p:cNvSpPr/>
          <p:nvPr/>
        </p:nvSpPr>
        <p:spPr>
          <a:xfrm>
            <a:off x="8065008" y="2670048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252D3D"/>
          </a:solidFill>
          <a:ln w="12700">
            <a:solidFill>
              <a:srgbClr val="748094">
                <a:alpha val="60000"/>
              </a:srgbClr>
            </a:solidFill>
            <a:prstDash val="solid"/>
          </a:ln>
        </p:spPr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07FA3E32-1BEE-34D4-05A8-8D2FB37B841C}"/>
              </a:ext>
            </a:extLst>
          </p:cNvPr>
          <p:cNvSpPr/>
          <p:nvPr/>
        </p:nvSpPr>
        <p:spPr>
          <a:xfrm>
            <a:off x="8065008" y="3355848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252D3D"/>
          </a:solidFill>
          <a:ln w="12700">
            <a:solidFill>
              <a:srgbClr val="748094">
                <a:alpha val="60000"/>
              </a:srgbClr>
            </a:solidFill>
            <a:prstDash val="solid"/>
          </a:ln>
        </p:spPr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F6878419-68CF-D9C7-A6A2-3C1A94C5D379}"/>
              </a:ext>
            </a:extLst>
          </p:cNvPr>
          <p:cNvSpPr/>
          <p:nvPr/>
        </p:nvSpPr>
        <p:spPr>
          <a:xfrm>
            <a:off x="9189720" y="1344168"/>
            <a:ext cx="1042416" cy="3749040"/>
          </a:xfrm>
          <a:prstGeom prst="roundRect">
            <a:avLst>
              <a:gd name="adj" fmla="val 10526"/>
            </a:avLst>
          </a:prstGeom>
          <a:solidFill>
            <a:srgbClr val="1A2030"/>
          </a:solidFill>
          <a:ln w="12700">
            <a:solidFill>
              <a:srgbClr val="33405A">
                <a:alpha val="85000"/>
              </a:srgbClr>
            </a:solidFill>
            <a:prstDash val="solid"/>
          </a:ln>
        </p:spPr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238597F7-783B-F2B9-FFC7-072EB428E2E3}"/>
              </a:ext>
            </a:extLst>
          </p:cNvPr>
          <p:cNvSpPr/>
          <p:nvPr/>
        </p:nvSpPr>
        <p:spPr>
          <a:xfrm>
            <a:off x="9262872" y="1554480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4F6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57" name="Shape 12">
            <a:extLst>
              <a:ext uri="{FF2B5EF4-FFF2-40B4-BE49-F238E27FC236}">
                <a16:creationId xmlns:a16="http://schemas.microsoft.com/office/drawing/2014/main" id="{C721EF5A-8977-47FF-6DE6-BB7A2C180616}"/>
              </a:ext>
            </a:extLst>
          </p:cNvPr>
          <p:cNvSpPr/>
          <p:nvPr/>
        </p:nvSpPr>
        <p:spPr>
          <a:xfrm>
            <a:off x="9299448" y="1984248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29263D"/>
          </a:solidFill>
          <a:ln w="12700">
            <a:solidFill>
              <a:srgbClr val="F5B942">
                <a:alpha val="60000"/>
              </a:srgbClr>
            </a:solidFill>
            <a:prstDash val="solid"/>
          </a:ln>
        </p:spPr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EF428748-FE0C-696A-0F08-B8AE18DBAF65}"/>
              </a:ext>
            </a:extLst>
          </p:cNvPr>
          <p:cNvSpPr/>
          <p:nvPr/>
        </p:nvSpPr>
        <p:spPr>
          <a:xfrm>
            <a:off x="9299448" y="2670048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29263D"/>
          </a:solidFill>
          <a:ln w="12700">
            <a:solidFill>
              <a:srgbClr val="F5B942">
                <a:alpha val="60000"/>
              </a:srgbClr>
            </a:solidFill>
            <a:prstDash val="solid"/>
          </a:ln>
        </p:spPr>
      </p:sp>
      <p:sp>
        <p:nvSpPr>
          <p:cNvPr id="59" name="Shape 14">
            <a:extLst>
              <a:ext uri="{FF2B5EF4-FFF2-40B4-BE49-F238E27FC236}">
                <a16:creationId xmlns:a16="http://schemas.microsoft.com/office/drawing/2014/main" id="{ED07EF26-5A2D-E254-DC3B-EC0D498FF697}"/>
              </a:ext>
            </a:extLst>
          </p:cNvPr>
          <p:cNvSpPr/>
          <p:nvPr/>
        </p:nvSpPr>
        <p:spPr>
          <a:xfrm>
            <a:off x="9299448" y="3355848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29263D"/>
          </a:solidFill>
          <a:ln w="12700">
            <a:solidFill>
              <a:srgbClr val="F5B942">
                <a:alpha val="60000"/>
              </a:srgbClr>
            </a:solidFill>
            <a:prstDash val="solid"/>
          </a:ln>
        </p:spPr>
      </p:sp>
      <p:sp>
        <p:nvSpPr>
          <p:cNvPr id="60" name="Shape 15">
            <a:extLst>
              <a:ext uri="{FF2B5EF4-FFF2-40B4-BE49-F238E27FC236}">
                <a16:creationId xmlns:a16="http://schemas.microsoft.com/office/drawing/2014/main" id="{91E69B40-FDF3-B1A1-AAE2-86B79128AAB8}"/>
              </a:ext>
            </a:extLst>
          </p:cNvPr>
          <p:cNvSpPr/>
          <p:nvPr/>
        </p:nvSpPr>
        <p:spPr>
          <a:xfrm>
            <a:off x="10424160" y="1344168"/>
            <a:ext cx="1042416" cy="3749040"/>
          </a:xfrm>
          <a:prstGeom prst="roundRect">
            <a:avLst>
              <a:gd name="adj" fmla="val 10526"/>
            </a:avLst>
          </a:prstGeom>
          <a:solidFill>
            <a:srgbClr val="1A2030"/>
          </a:solidFill>
          <a:ln w="12700">
            <a:solidFill>
              <a:srgbClr val="33405A">
                <a:alpha val="85000"/>
              </a:srgbClr>
            </a:solidFill>
            <a:prstDash val="solid"/>
          </a:ln>
        </p:spPr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A423FF52-EF97-2895-B797-ED4C282E4F8F}"/>
              </a:ext>
            </a:extLst>
          </p:cNvPr>
          <p:cNvSpPr/>
          <p:nvPr/>
        </p:nvSpPr>
        <p:spPr>
          <a:xfrm>
            <a:off x="10497312" y="1554480"/>
            <a:ext cx="896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4F6"/>
                </a:solidFill>
              </a:rPr>
              <a:t>Done</a:t>
            </a:r>
            <a:endParaRPr lang="en-US" sz="1000" dirty="0"/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0962D564-C277-1C38-2598-20FFC83515D5}"/>
              </a:ext>
            </a:extLst>
          </p:cNvPr>
          <p:cNvSpPr/>
          <p:nvPr/>
        </p:nvSpPr>
        <p:spPr>
          <a:xfrm>
            <a:off x="10533888" y="1984248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1D3A32"/>
          </a:solidFill>
          <a:ln w="12700">
            <a:solidFill>
              <a:srgbClr val="3DD68C">
                <a:alpha val="60000"/>
              </a:srgbClr>
            </a:solidFill>
            <a:prstDash val="solid"/>
          </a:ln>
        </p:spPr>
      </p:sp>
      <p:sp>
        <p:nvSpPr>
          <p:cNvPr id="63" name="Shape 18">
            <a:extLst>
              <a:ext uri="{FF2B5EF4-FFF2-40B4-BE49-F238E27FC236}">
                <a16:creationId xmlns:a16="http://schemas.microsoft.com/office/drawing/2014/main" id="{1E8AC355-52F5-097C-7B2E-6BABC898D4E2}"/>
              </a:ext>
            </a:extLst>
          </p:cNvPr>
          <p:cNvSpPr/>
          <p:nvPr/>
        </p:nvSpPr>
        <p:spPr>
          <a:xfrm>
            <a:off x="10533888" y="2670048"/>
            <a:ext cx="822960" cy="438912"/>
          </a:xfrm>
          <a:prstGeom prst="roundRect">
            <a:avLst>
              <a:gd name="adj" fmla="val 25000"/>
            </a:avLst>
          </a:prstGeom>
          <a:solidFill>
            <a:srgbClr val="1D3A32"/>
          </a:solidFill>
          <a:ln w="12700">
            <a:solidFill>
              <a:srgbClr val="3DD68C">
                <a:alpha val="60000"/>
              </a:srgbClr>
            </a:solidFill>
            <a:prstDash val="solid"/>
          </a:ln>
        </p:spPr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B504A2FB-FA7C-0B8E-6AAE-0096D49D1322}"/>
              </a:ext>
            </a:extLst>
          </p:cNvPr>
          <p:cNvSpPr/>
          <p:nvPr/>
        </p:nvSpPr>
        <p:spPr>
          <a:xfrm>
            <a:off x="768096" y="60579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b="1" dirty="0">
                <a:solidFill>
                  <a:schemeClr val="bg2">
                    <a:lumMod val="7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發表者：盧韋諺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Kanban？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Lite｜期中專題報告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92840" y="6382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" y="1115568"/>
            <a:ext cx="10771632" cy="1051560"/>
          </a:xfrm>
          <a:prstGeom prst="roundRect">
            <a:avLst>
              <a:gd name="adj" fmla="val 12174"/>
            </a:avLst>
          </a:prstGeom>
          <a:solidFill>
            <a:srgbClr val="1A2030"/>
          </a:solidFill>
          <a:ln w="13970">
            <a:solidFill>
              <a:srgbClr val="334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37160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看板是一種敏捷管理方法，使用視覺化看板協助團隊跨不同完成階段追蹤工作。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1755648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它強調持續改進，將工作項目從待辦項目「提取」至穩定且可管理的流程，而不是一次推送大量工作給團隊。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22960" y="260604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606040"/>
            <a:ext cx="73152" cy="96012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770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視覺化工作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19125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把需求、Bug、文件等工作拆成卡片，放在看板上追蹤。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260604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606040"/>
            <a:ext cx="73152" cy="96012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770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追蹤完成階段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19125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常見欄位如 To Do、In Progress、Done，讓進度一眼可見。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93192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931920"/>
            <a:ext cx="73152" cy="96012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096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拉動式流程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51713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依照目前可處理的量拉進新工作，避免一次塞入太多任務。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931920"/>
            <a:ext cx="5166360" cy="960120"/>
          </a:xfrm>
          <a:prstGeom prst="roundRect">
            <a:avLst>
              <a:gd name="adj" fmla="val 9524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931920"/>
            <a:ext cx="73152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096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持續改進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51713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透過看板觀察瓶頸，逐步調整流程與工作分配。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143000" y="5486400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222A3D"/>
          </a:solidFill>
          <a:ln w="12700">
            <a:solidFill>
              <a:srgbClr val="748094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4864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 rot="5400000">
            <a:off x="3364992" y="5596128"/>
            <a:ext cx="182880" cy="182880"/>
          </a:xfrm>
          <a:prstGeom prst="triangl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5486400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222A3D"/>
          </a:solidFill>
          <a:ln w="12700">
            <a:solidFill>
              <a:srgbClr val="F5B942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54864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 rot="5400000">
            <a:off x="5879592" y="5596128"/>
            <a:ext cx="182880" cy="182880"/>
          </a:xfrm>
          <a:prstGeom prst="triangl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5486400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222A3D"/>
          </a:solidFill>
          <a:ln w="12700">
            <a:solidFill>
              <a:srgbClr val="6D7CFF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54864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 / 修正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 rot="5400000">
            <a:off x="8394192" y="5596128"/>
            <a:ext cx="182880" cy="182880"/>
          </a:xfrm>
          <a:prstGeom prst="triangl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5486400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222A3D"/>
          </a:solidFill>
          <a:ln w="12700">
            <a:solidFill>
              <a:srgbClr val="3DD68C">
                <a:alpha val="8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54681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製作動機：用 Kanban </a:t>
            </a:r>
            <a:r>
              <a:rPr lang="en-US" sz="2400" b="1" dirty="0" err="1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</a:t>
            </a: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SDLC</a:t>
            </a:r>
            <a:r>
              <a:rPr lang="zh-TW" alt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軟體開發生命週期</a:t>
            </a:r>
            <a:r>
              <a:rPr lang="en-US" altLang="zh-TW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Lite｜期中專題報告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92840" y="6382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111556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我選擇 Kanban，不只是因為它適合做任務管理工具，而是因為它本身就是一種項目管理方法，可以對應到 SDLC 中的規劃、實作、測試與修正。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透過實作一個小型 Kanban 系統，我希望一邊完成作品，一邊更具體理解軟體開發生命週期。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278892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20284C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0083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需求分析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33272" y="34290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要管理哪些任務資訊？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2907792" y="3264408"/>
            <a:ext cx="164592" cy="164592"/>
          </a:xfrm>
          <a:prstGeom prst="triangl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78892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30083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規劃設計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27832" y="34290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頁面、欄位、資料結構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5102352" y="3264408"/>
            <a:ext cx="164592" cy="164592"/>
          </a:xfrm>
          <a:prstGeom prst="triangl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278892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528" y="30083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實作開發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22392" y="34290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296912" y="3264408"/>
            <a:ext cx="164592" cy="164592"/>
          </a:xfrm>
          <a:prstGeom prst="triangl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278892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62088" y="30083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測試驗證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7616952" y="34290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CRUD、拖曳、統計同步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491472" y="3264408"/>
            <a:ext cx="164592" cy="164592"/>
          </a:xfrm>
          <a:prstGeom prst="triangl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46920" y="2788920"/>
            <a:ext cx="1993392" cy="1143000"/>
          </a:xfrm>
          <a:prstGeom prst="roundRect">
            <a:avLst>
              <a:gd name="adj" fmla="val 9600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56648" y="300837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修正改善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9811512" y="342900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重構、邊界條件、防呆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" y="480060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4800600"/>
            <a:ext cx="73152" cy="96012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9651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作品層面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538581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完成一個可操作的任務流程管理工具。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80560" y="480060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4800600"/>
            <a:ext cx="73152" cy="96012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9651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學習層面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09160" y="538581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把課堂技術放進實際開發流程。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92440" y="480060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92440" y="4800600"/>
            <a:ext cx="73152" cy="960120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49651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流程層面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21040" y="538581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理解需求、實作、測試、修正之間的關係。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時程規劃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Lite｜期中專題報告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92840" y="6382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280160"/>
            <a:ext cx="10607040" cy="4526280"/>
          </a:xfrm>
          <a:prstGeom prst="roundRect">
            <a:avLst>
              <a:gd name="adj" fmla="val 2424"/>
            </a:avLst>
          </a:prstGeom>
          <a:solidFill>
            <a:srgbClr val="1A2030">
              <a:alpha val="75000"/>
            </a:srgbClr>
          </a:solidFill>
          <a:ln w="15240">
            <a:solidFill>
              <a:srgbClr val="334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63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請將已完成的行事曆貼在此處</a:t>
            </a:r>
            <a:endParaRPr lang="en-US" sz="19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2EA8EBE3-8D39-584C-47B5-960BE4B0DA7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32551" y="1286857"/>
            <a:ext cx="8696418" cy="45195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作品概覽：KANBAN Lite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核心頁面：Dashboard 總覽 + My Board 任務看板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Lite｜期中專題報告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92840" y="6382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143000"/>
            <a:ext cx="5440680" cy="2971800"/>
          </a:xfrm>
          <a:prstGeom prst="roundRect">
            <a:avLst>
              <a:gd name="adj" fmla="val 3692"/>
            </a:avLst>
          </a:prstGeom>
          <a:solidFill>
            <a:srgbClr val="121621"/>
          </a:solidFill>
          <a:ln w="15240">
            <a:solidFill>
              <a:srgbClr val="3340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1252728"/>
            <a:ext cx="5221224" cy="256032"/>
          </a:xfrm>
          <a:prstGeom prst="rect">
            <a:avLst/>
          </a:prstGeom>
          <a:solidFill>
            <a:srgbClr val="222A3D"/>
          </a:solidFill>
          <a:ln w="12700">
            <a:solidFill>
              <a:srgbClr val="22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325880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" y="1325880"/>
            <a:ext cx="73152" cy="73152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25296" y="1325880"/>
            <a:ext cx="73152" cy="73152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pic>
        <p:nvPicPr>
          <p:cNvPr id="16" name="Image 0" descr="/mnt/data/KANBAN Lite - 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581912"/>
            <a:ext cx="5221224" cy="24231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355080" y="1143000"/>
            <a:ext cx="5166360" cy="2971800"/>
          </a:xfrm>
          <a:prstGeom prst="roundRect">
            <a:avLst>
              <a:gd name="adj" fmla="val 3692"/>
            </a:avLst>
          </a:prstGeom>
          <a:solidFill>
            <a:srgbClr val="121621"/>
          </a:solidFill>
          <a:ln w="15240">
            <a:solidFill>
              <a:srgbClr val="33405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64808" y="1252728"/>
            <a:ext cx="4946904" cy="256032"/>
          </a:xfrm>
          <a:prstGeom prst="rect">
            <a:avLst/>
          </a:prstGeom>
          <a:solidFill>
            <a:srgbClr val="222A3D"/>
          </a:solidFill>
          <a:ln w="12700">
            <a:solidFill>
              <a:srgbClr val="222A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1325880"/>
            <a:ext cx="73152" cy="731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39128" y="1325880"/>
            <a:ext cx="73152" cy="73152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94576" y="1325880"/>
            <a:ext cx="73152" cy="73152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pic>
        <p:nvPicPr>
          <p:cNvPr id="23" name="Image 1" descr="/mnt/data/KANBAN Lite - My 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581912"/>
            <a:ext cx="4946904" cy="242316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77240" y="4526280"/>
            <a:ext cx="2468880" cy="1078992"/>
          </a:xfrm>
          <a:prstGeom prst="roundRect">
            <a:avLst>
              <a:gd name="adj" fmla="val 8475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77240" y="4526280"/>
            <a:ext cx="73152" cy="1078992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5840" y="46908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005840" y="51114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總任務數、各狀態數量、完成率、到期日與高優先任務統計。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474720" y="4526280"/>
            <a:ext cx="2468880" cy="1078992"/>
          </a:xfrm>
          <a:prstGeom prst="roundRect">
            <a:avLst>
              <a:gd name="adj" fmla="val 8475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474720" y="4526280"/>
            <a:ext cx="73152" cy="1078992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703320" y="46908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Board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3703320" y="51114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To Do / In Progress / Done 呈現任務狀態，支援拖曳調整。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172200" y="4526280"/>
            <a:ext cx="2468880" cy="1078992"/>
          </a:xfrm>
          <a:prstGeom prst="roundRect">
            <a:avLst>
              <a:gd name="adj" fmla="val 8475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172200" y="4526280"/>
            <a:ext cx="73152" cy="1078992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0" y="46908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Task CRUD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6400800" y="51114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可新增、編輯、刪除任務，並設定優先度、標籤、狀態、截止日期。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8869680" y="4526280"/>
            <a:ext cx="2468880" cy="1078992"/>
          </a:xfrm>
          <a:prstGeom prst="roundRect">
            <a:avLst>
              <a:gd name="adj" fmla="val 8475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869680" y="4526280"/>
            <a:ext cx="73152" cy="10789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098280" y="46908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Save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9098280" y="511149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localStorage 保存資料，並可重置範例資料進行展示。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實際展示流程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Lite｜期中專題報告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92840" y="6382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1234440"/>
            <a:ext cx="10698480" cy="4389120"/>
          </a:xfrm>
          <a:prstGeom prst="roundRect">
            <a:avLst>
              <a:gd name="adj" fmla="val 2500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1600200"/>
            <a:ext cx="384048" cy="384048"/>
          </a:xfrm>
          <a:prstGeom prst="ellips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7007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1581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16002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先看任務總數、完成率、到期日與高優先任務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143000" y="2350008"/>
            <a:ext cx="384048" cy="384048"/>
          </a:xfrm>
          <a:prstGeom prst="ellips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4505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83080" y="23317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切換到我的看板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3500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 To Do / In Progress / Done 三欄狀態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43000" y="3099816"/>
            <a:ext cx="384048" cy="384048"/>
          </a:xfrm>
          <a:prstGeom prst="ellips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2004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83080" y="30815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新增任務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86200" y="3099816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輸入標題、優先度、標籤、狀態、截止日期與描述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43000" y="3849624"/>
            <a:ext cx="384048" cy="384048"/>
          </a:xfrm>
          <a:prstGeom prst="ellips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950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83080" y="383133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 / 刪除任務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84962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展示任務資料可以修改，也有確認視窗避免誤刪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43000" y="4599432"/>
            <a:ext cx="384048" cy="384048"/>
          </a:xfrm>
          <a:prstGeom prst="ellips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7000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45811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拖曳任務並回 Dashboard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86200" y="459943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確認狀態改變後，統計數字會同步更新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 AI 使用率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以「輔助程度」估算，分為 CSS、JavaScript、HTML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Lite｜期中專題報告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92840" y="6382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1143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</a:t>
            </a:r>
            <a:r>
              <a:rPr lang="en-US" sz="140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主要用於視覺基底、程式碼審查、debug、重構建議與觀念釐清</a:t>
            </a:r>
            <a:r>
              <a:rPr lang="zh-TW" altLang="en-US" sz="14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40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核心功能整合與測試由本人完成</a:t>
            </a:r>
            <a:r>
              <a:rPr lang="en-US" sz="14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659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 視覺樣式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46120" y="1984248"/>
            <a:ext cx="4846320" cy="256032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984248"/>
            <a:ext cx="4024630" cy="256032"/>
          </a:xfrm>
          <a:prstGeom prst="roundRect">
            <a:avLst>
              <a:gd name="adj" fmla="val 21429"/>
            </a:avLst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965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TW" sz="1300" b="1" dirty="0">
                <a:solidFill>
                  <a:srgbClr val="6D7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</a:t>
            </a:r>
            <a:r>
              <a:rPr lang="en-US" sz="1300" b="1" dirty="0">
                <a:solidFill>
                  <a:srgbClr val="6D7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377440"/>
            <a:ext cx="10012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初始風格與設計系統</a:t>
            </a:r>
            <a:r>
              <a:rPr lang="zh-TW" alt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多由</a:t>
            </a:r>
            <a:r>
              <a:rPr 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AI</a:t>
            </a:r>
            <a:r>
              <a:rPr lang="zh-TW" alt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進行設計，</a:t>
            </a:r>
            <a:r>
              <a:rPr lang="en-US" sz="120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後續依既有規則自行延伸與調整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089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 邏輯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46120" y="3127248"/>
            <a:ext cx="4846320" cy="256032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19" y="3116814"/>
            <a:ext cx="728003" cy="256032"/>
          </a:xfrm>
          <a:prstGeom prst="roundRect">
            <a:avLst>
              <a:gd name="adj" fmla="val 21429"/>
            </a:avLst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108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TW" sz="1300" b="1" dirty="0">
                <a:solidFill>
                  <a:srgbClr val="3DD6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r>
              <a:rPr lang="en-US" sz="1300" b="1" dirty="0">
                <a:solidFill>
                  <a:srgbClr val="3DD6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520440"/>
            <a:ext cx="10012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功能流程、資料整合自行完成</a:t>
            </a:r>
            <a:r>
              <a:rPr lang="zh-TW" alt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</a:t>
            </a:r>
            <a:r>
              <a:rPr lang="zh-TW" alt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r>
              <a:rPr lang="en-US" sz="120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用於</a:t>
            </a:r>
            <a:r>
              <a:rPr 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code review / debug / 重構建議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結構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46120" y="4270248"/>
            <a:ext cx="4846320" cy="256032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4270248"/>
            <a:ext cx="728003" cy="256032"/>
          </a:xfrm>
          <a:prstGeom prst="roundRect">
            <a:avLst>
              <a:gd name="adj" fmla="val 21429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251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TW" sz="1300" b="1" dirty="0">
                <a:solidFill>
                  <a:srgbClr val="F5B9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r>
              <a:rPr lang="en-US" sz="1300" b="1" dirty="0">
                <a:solidFill>
                  <a:srgbClr val="F5B9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663440"/>
            <a:ext cx="10012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頁面區塊依功能需求規劃</a:t>
            </a:r>
            <a:r>
              <a:rPr lang="zh-TW" alt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12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輔助檢查與微調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5532120"/>
            <a:ext cx="10424160" cy="658368"/>
          </a:xfrm>
          <a:prstGeom prst="roundRect">
            <a:avLst>
              <a:gd name="adj" fmla="val 13889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69671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88672" y="5768340"/>
            <a:ext cx="801887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</a:t>
            </a:r>
            <a:r>
              <a:rPr lang="en-US" altLang="zh-TW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r>
              <a:rPr lang="zh-TW" alt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不要直接生成程式碼，當遇到卡住的地方請</a:t>
            </a:r>
            <a:r>
              <a:rPr lang="en-US" altLang="zh-TW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r>
              <a:rPr lang="zh-TW" alt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提供思路或</a:t>
            </a:r>
            <a:r>
              <a:rPr lang="en-US" altLang="zh-TW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Pseudo-code </a:t>
            </a:r>
            <a:r>
              <a:rPr lang="zh-TW" alt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，實際 </a:t>
            </a:r>
            <a:r>
              <a:rPr lang="en-US" altLang="zh-TW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</a:t>
            </a:r>
            <a:r>
              <a:rPr lang="zh-TW" altLang="en-US" sz="11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由本人自行撰寫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過程中遇到的困難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Lite｜期中專題報告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92840" y="6382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1207008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207008"/>
            <a:ext cx="73152" cy="749808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1371600"/>
            <a:ext cx="2880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</a:t>
            </a:r>
            <a:r>
              <a:rPr lang="zh-TW" alt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</a:t>
            </a:r>
            <a:r>
              <a:rPr lang="en-US" b="1" dirty="0" err="1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功能架構</a:t>
            </a:r>
            <a:r>
              <a:rPr lang="zh-TW" alt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60520" y="1362456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一開始容易只想到功能本身，較難拆出資料流、畫面流程與函式責任。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22960" y="2231136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231136"/>
            <a:ext cx="73152" cy="749808"/>
          </a:xfrm>
          <a:prstGeom prst="rect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2395728"/>
            <a:ext cx="2880360" cy="41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元件化處理不夠熟悉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60520" y="2386584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Modal、Popover、Dashboard 等區塊還不夠乾淨，仍需要 AI 協助設計架構後再執行。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3255264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255264"/>
            <a:ext cx="73152" cy="7498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3419856"/>
            <a:ext cx="2880360" cy="42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邊界條件與防禦性程式碼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60520" y="3410712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例如找不到資料、空資料、錯誤操作、使用者輸入等情況，一開始不容易主動想到。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22960" y="4279392"/>
            <a:ext cx="10652760" cy="749808"/>
          </a:xfrm>
          <a:prstGeom prst="roundRect">
            <a:avLst>
              <a:gd name="adj" fmla="val 12195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279392"/>
            <a:ext cx="73152" cy="749808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4443984"/>
            <a:ext cx="2880360" cy="42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 Git 觀念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60520" y="443484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常常不知道什麼時機適合</a:t>
            </a:r>
            <a:r>
              <a:rPr lang="en-US" sz="108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commit</a:t>
            </a:r>
            <a:r>
              <a:rPr lang="zh-TW" altLang="en-US" sz="108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或是開新的 </a:t>
            </a:r>
            <a:r>
              <a:rPr lang="en-US" altLang="zh-TW" sz="108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branch</a:t>
            </a:r>
            <a:r>
              <a:rPr lang="en-US" sz="108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，也還在學習如何用版本紀錄管理開發進度</a:t>
            </a:r>
            <a:r>
              <a:rPr lang="en-US" sz="108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80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DB8AA504-83DE-04A4-66E0-6AAC2D59C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65" y="1823493"/>
            <a:ext cx="1716975" cy="15094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65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資料來源與使用工具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報告引用來源與開發過程中使用的工具整理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KANBAN Lite｜期中專題報告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09960" y="63825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48094"/>
                </a:solidFill>
                <a:latin typeface="Microsoft JhengHei" pitchFamily="34" charset="0"/>
                <a:ea typeface="Microsoft JhengHei" pitchFamily="34" charset="-122"/>
              </a:rPr>
              <a:t>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5440680" cy="4526280"/>
          </a:xfrm>
          <a:prstGeom prst="roundRect">
            <a:avLst>
              <a:gd name="adj" fmla="val 2626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325880"/>
            <a:ext cx="82296" cy="4526280"/>
          </a:xfrm>
          <a:prstGeom prst="rect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1508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51560" y="1947672"/>
            <a:ext cx="210312" cy="210312"/>
          </a:xfrm>
          <a:prstGeom prst="ellipse">
            <a:avLst/>
          </a:prstGeom>
          <a:solidFill>
            <a:srgbClr val="6D7CFF"/>
          </a:solidFill>
          <a:ln w="12700">
            <a:solidFill>
              <a:srgbClr val="6D7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19019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Kanban？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99032" y="214884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https://asana.com/zh-tw/resources/what-is-kanban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2816352"/>
            <a:ext cx="210312" cy="210312"/>
          </a:xfrm>
          <a:prstGeom prst="ellipse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27706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Material Symbols / Icons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9032" y="3017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https://fonts.google.com/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1560" y="3685032"/>
            <a:ext cx="210312" cy="210312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99032" y="36393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網頁標題 Logo / Icon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99032" y="388620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https://www.flaticon.com/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" y="4553712"/>
            <a:ext cx="210312" cy="21031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99032" y="45079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側邊欄設計參考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99032" y="47548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7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https://codelove.tw/@tony/post/AqJM1a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1325880"/>
            <a:ext cx="4983480" cy="4526280"/>
          </a:xfrm>
          <a:prstGeom prst="roundRect">
            <a:avLst>
              <a:gd name="adj" fmla="val 2626"/>
            </a:avLst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1325880"/>
            <a:ext cx="82296" cy="4526280"/>
          </a:xfrm>
          <a:prstGeom prst="rect">
            <a:avLst/>
          </a:prstGeom>
          <a:solidFill>
            <a:srgbClr val="3DD68C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1508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使用工具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72084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開發技術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20840" y="2221992"/>
            <a:ext cx="96012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6D7CFF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93992" y="2221992"/>
            <a:ext cx="813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818120" y="2221992"/>
            <a:ext cx="86868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6D7CFF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91272" y="2240280"/>
            <a:ext cx="722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823960" y="2221992"/>
            <a:ext cx="132588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6D7CFF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97112" y="2240280"/>
            <a:ext cx="1179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287000" y="2221992"/>
            <a:ext cx="86868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6D7CFF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0152" y="2240280"/>
            <a:ext cx="7223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jQuery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720840" y="2697480"/>
            <a:ext cx="150876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F5B942">
                <a:alpha val="6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87896" y="269748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20840" y="3383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開發與測試環境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720840" y="3703320"/>
            <a:ext cx="114300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3DD68C">
                <a:alpha val="6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93992" y="3721608"/>
            <a:ext cx="996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 Code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001000" y="3703320"/>
            <a:ext cx="141732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3DD68C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74152" y="3721608"/>
            <a:ext cx="1271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Server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555480" y="3703320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3DD68C">
                <a:alpha val="6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28632" y="3721608"/>
            <a:ext cx="1453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Chrome DevTools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20840" y="4178808"/>
            <a:ext cx="160020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3DD68C">
                <a:alpha val="6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93992" y="4215384"/>
            <a:ext cx="1453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720840" y="4864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輔助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20840" y="518464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222A3D"/>
          </a:solidFill>
          <a:ln w="12700">
            <a:solidFill>
              <a:srgbClr val="FF6B6B">
                <a:alpha val="6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93992" y="5202936"/>
            <a:ext cx="1088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ChatGPT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38160" y="5202936"/>
            <a:ext cx="28790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7B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用於觀念釐清、程式碼審查、debug、重構方向與簡報內容整理。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693</Words>
  <Application>Microsoft Office PowerPoint</Application>
  <PresentationFormat>寬螢幕</PresentationFormat>
  <Paragraphs>157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KANBAN Lite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 Lite 期中專題報告</dc:title>
  <dc:subject>5分鐘期中專題簡報</dc:subject>
  <dc:creator>LU WEI</dc:creator>
  <cp:lastModifiedBy>Wiston L</cp:lastModifiedBy>
  <cp:revision>9</cp:revision>
  <dcterms:created xsi:type="dcterms:W3CDTF">2026-06-01T02:15:38Z</dcterms:created>
  <dcterms:modified xsi:type="dcterms:W3CDTF">2026-06-01T03:57:07Z</dcterms:modified>
</cp:coreProperties>
</file>