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76190" autoAdjust="0"/>
  </p:normalViewPr>
  <p:slideViewPr>
    <p:cSldViewPr snapToGrid="0" snapToObjects="1">
      <p:cViewPr varScale="1">
        <p:scale>
          <a:sx n="93" d="100"/>
          <a:sy n="93" d="100"/>
        </p:scale>
        <p:origin x="1570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171028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開場：</a:t>
            </a:r>
            <a:r>
              <a:rPr lang="en-US" altLang="zh-TW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KANBAN</a:t>
            </a:r>
            <a:r>
              <a:rPr lang="en-US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Lite </a:t>
            </a:r>
            <a:r>
              <a:rPr lang="zh-TW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是針對個人設計的任務流程管理工具，目標是用簡單的看板、狀態分類與與統計，讓使用者快速掌握任務進度與優先順序。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Kanban </a:t>
            </a:r>
            <a:r>
              <a:rPr lang="zh-TW" altLang="en-US" dirty="0"/>
              <a:t>的起源可以追溯到 </a:t>
            </a:r>
            <a:r>
              <a:rPr lang="en-US" altLang="zh-TW" dirty="0"/>
              <a:t>1940 </a:t>
            </a:r>
            <a:r>
              <a:rPr lang="zh-TW" altLang="en-US" dirty="0"/>
              <a:t>年代，</a:t>
            </a:r>
            <a:r>
              <a:rPr lang="en-US" altLang="zh-TW" dirty="0"/>
              <a:t>Toyota </a:t>
            </a:r>
            <a:r>
              <a:rPr lang="zh-TW" altLang="en-US" dirty="0"/>
              <a:t>的工程師創造了這套管理系統，最早是用來改善工廠生產流程。</a:t>
            </a:r>
            <a:r>
              <a:rPr lang="en-US" altLang="zh-TW" dirty="0"/>
              <a:t>2004 </a:t>
            </a:r>
            <a:r>
              <a:rPr lang="zh-TW" altLang="en-US" dirty="0"/>
              <a:t>年左右，這套概念被應用在 </a:t>
            </a:r>
            <a:r>
              <a:rPr lang="en-US" altLang="zh-TW" dirty="0"/>
              <a:t>Microsoft </a:t>
            </a:r>
            <a:r>
              <a:rPr lang="zh-TW" altLang="en-US" dirty="0"/>
              <a:t>的軟體開發與 </a:t>
            </a:r>
            <a:r>
              <a:rPr lang="en-US" altLang="zh-TW" dirty="0"/>
              <a:t>IT </a:t>
            </a:r>
            <a:r>
              <a:rPr lang="zh-TW" altLang="en-US" dirty="0"/>
              <a:t>工作流程中，之後也逐漸被專案管理領域廣泛使用。它的核心精神是將工作視覺化、限制進行中的工作量，並透過持續觀察流程瓶頸來改善效率。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我會選擇這個題目的原因是想透過實作一個輕量化的 </a:t>
            </a:r>
            <a:r>
              <a:rPr lang="en-US" altLang="zh-TW" dirty="0"/>
              <a:t>Kanban </a:t>
            </a:r>
            <a:r>
              <a:rPr lang="zh-TW" altLang="en-US" dirty="0"/>
              <a:t>系統，一邊完成作品，一邊更具體理解軟體開發生命週期，我的作品從訂定主題開始，也經歷了一部分</a:t>
            </a:r>
            <a:r>
              <a:rPr lang="en-US" altLang="zh-TW" dirty="0"/>
              <a:t>SDLC</a:t>
            </a:r>
            <a:r>
              <a:rPr lang="zh-TW" altLang="en-US" dirty="0"/>
              <a:t>，像是需求分析、規劃設計、實作開發、測試驗證，目前這個版本主要完成前端功能。後續如果繼續擴充，我也希望可以嘗試往實際部署與持續維運的階段延伸。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這是我的實際開發時程。我採用滾動式規劃，以先完成 </a:t>
            </a:r>
            <a:r>
              <a:rPr lang="en-US" altLang="zh-TW" dirty="0"/>
              <a:t>MVP </a:t>
            </a:r>
            <a:r>
              <a:rPr lang="zh-TW" altLang="en-US" dirty="0"/>
              <a:t>為原則，先把核心功能做出來，再依照剩餘時間逐步加入其他功能。</a:t>
            </a:r>
          </a:p>
          <a:p>
            <a:r>
              <a:rPr lang="zh-TW" altLang="en-US" dirty="0"/>
              <a:t>比較可惜的是，原本有規劃篩選功能，但因為時間限制，最後沒有放進這次的報告版本，先確保核心功能穩定。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那我作品包含總覽、我的看板頁、任務的</a:t>
            </a:r>
            <a:r>
              <a:rPr lang="en-US" altLang="zh-TW" dirty="0"/>
              <a:t>CRUD</a:t>
            </a:r>
            <a:r>
              <a:rPr lang="zh-TW" altLang="en-US" dirty="0"/>
              <a:t>、以及我使用</a:t>
            </a:r>
            <a:r>
              <a:rPr lang="en-US" altLang="zh-TW" dirty="0" err="1"/>
              <a:t>localstorage</a:t>
            </a:r>
            <a:r>
              <a:rPr lang="zh-TW" altLang="en-US" dirty="0"/>
              <a:t>的方式來儲存資料，關閉網頁或重新整理後可以把資料保存在本地。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首先是總覽頁</a:t>
            </a:r>
            <a:r>
              <a:rPr lang="en-US" altLang="zh-TW" dirty="0"/>
              <a:t>-</a:t>
            </a:r>
            <a:r>
              <a:rPr lang="zh-TW" altLang="en-US" dirty="0"/>
              <a:t>可以看到總任務數量與每個狀態的任務數量</a:t>
            </a:r>
            <a:r>
              <a:rPr lang="en-US" altLang="zh-TW" dirty="0"/>
              <a:t>-</a:t>
            </a:r>
            <a:r>
              <a:rPr lang="zh-TW" altLang="en-US" dirty="0"/>
              <a:t>任務完成度</a:t>
            </a:r>
            <a:r>
              <a:rPr lang="en-US" altLang="zh-TW" dirty="0"/>
              <a:t>-</a:t>
            </a:r>
            <a:r>
              <a:rPr lang="zh-TW" altLang="en-US" dirty="0"/>
              <a:t>未完成任務時間與優先度數量</a:t>
            </a:r>
            <a:r>
              <a:rPr lang="en-US" altLang="zh-TW" dirty="0"/>
              <a:t>-</a:t>
            </a:r>
            <a:r>
              <a:rPr lang="zh-TW" altLang="en-US" dirty="0"/>
              <a:t>條列未完成高優先度任務，因為目前沒有任務，所以顯示沒有待處理的高優先度任務</a:t>
            </a:r>
            <a:r>
              <a:rPr lang="en-US" altLang="zh-TW" dirty="0"/>
              <a:t>-</a:t>
            </a:r>
            <a:r>
              <a:rPr lang="zh-TW" altLang="en-US" dirty="0"/>
              <a:t>之後點側邊欄切換到我的看板分頁</a:t>
            </a:r>
            <a:r>
              <a:rPr lang="en-US" altLang="zh-TW" dirty="0"/>
              <a:t>-</a:t>
            </a:r>
            <a:r>
              <a:rPr lang="zh-TW" altLang="en-US" dirty="0"/>
              <a:t>可以新增任務</a:t>
            </a:r>
            <a:r>
              <a:rPr lang="en-US" altLang="zh-TW" dirty="0"/>
              <a:t>-</a:t>
            </a:r>
            <a:r>
              <a:rPr lang="zh-TW" altLang="en-US" dirty="0"/>
              <a:t>標題以及描述我設定為必填的內容</a:t>
            </a:r>
            <a:r>
              <a:rPr lang="en-US" altLang="zh-TW" dirty="0"/>
              <a:t>-</a:t>
            </a:r>
            <a:r>
              <a:rPr lang="zh-TW" altLang="en-US" dirty="0"/>
              <a:t>標籤沒填會預設代入</a:t>
            </a:r>
            <a:r>
              <a:rPr lang="en-US" altLang="zh-TW" dirty="0"/>
              <a:t>general-</a:t>
            </a:r>
            <a:r>
              <a:rPr lang="zh-TW" altLang="en-US" dirty="0"/>
              <a:t>日期沒填會設定為無截止日期</a:t>
            </a:r>
            <a:r>
              <a:rPr lang="en-US" altLang="zh-TW" dirty="0"/>
              <a:t>-</a:t>
            </a:r>
            <a:r>
              <a:rPr lang="zh-TW" altLang="en-US" dirty="0"/>
              <a:t>回到總覽頁可以看到剛剛新增的任務會即時更新</a:t>
            </a:r>
            <a:r>
              <a:rPr lang="en-US" altLang="zh-TW" dirty="0"/>
              <a:t>-</a:t>
            </a:r>
            <a:r>
              <a:rPr lang="zh-TW" altLang="en-US" dirty="0"/>
              <a:t>之後點開剛剛創建的任務可以對任務進行編輯</a:t>
            </a:r>
            <a:r>
              <a:rPr lang="en-US" altLang="zh-TW" dirty="0"/>
              <a:t>-</a:t>
            </a:r>
            <a:r>
              <a:rPr lang="zh-TW" altLang="en-US" dirty="0"/>
              <a:t>每個欄位會自動帶入任務原本的內容</a:t>
            </a:r>
            <a:r>
              <a:rPr lang="en-US" altLang="zh-TW" dirty="0"/>
              <a:t>-</a:t>
            </a:r>
            <a:r>
              <a:rPr lang="zh-TW" altLang="en-US" dirty="0"/>
              <a:t>編輯完進行儲存，畫面也會立刻更新</a:t>
            </a:r>
            <a:r>
              <a:rPr lang="en-US" altLang="zh-TW" dirty="0"/>
              <a:t>-</a:t>
            </a:r>
            <a:r>
              <a:rPr lang="zh-TW" altLang="en-US" dirty="0"/>
              <a:t>那再點開任務，也可以發現左下角會多一個刪除任務的選項可以刪除任務</a:t>
            </a:r>
            <a:r>
              <a:rPr lang="en-US" altLang="zh-TW" dirty="0"/>
              <a:t>-</a:t>
            </a:r>
            <a:r>
              <a:rPr lang="zh-TW" altLang="en-US" dirty="0"/>
              <a:t>順帶一提，這個互動視窗與新增任務共用同一段</a:t>
            </a:r>
            <a:r>
              <a:rPr lang="en-US" altLang="zh-TW" dirty="0"/>
              <a:t>HTML</a:t>
            </a:r>
            <a:r>
              <a:rPr lang="zh-TW" altLang="en-US" dirty="0"/>
              <a:t>程式碼，我透過判斷新增或編輯任務來變更視窗的標題與內容，以狀態驅動畫面的形式來實現程式碼的可重用性以及</a:t>
            </a:r>
            <a:r>
              <a:rPr lang="en-US" altLang="zh-TW" dirty="0"/>
              <a:t>DRY</a:t>
            </a:r>
            <a:r>
              <a:rPr lang="zh-TW" altLang="en-US" dirty="0"/>
              <a:t>原則也就是</a:t>
            </a:r>
            <a:r>
              <a:rPr lang="en-US" altLang="zh-TW" dirty="0"/>
              <a:t>Don‘t Repeat Yourself-</a:t>
            </a:r>
            <a:r>
              <a:rPr lang="zh-TW" altLang="en-US" dirty="0"/>
              <a:t>之後點擊刪除任務會跳出二次確認以防使用者誤刪</a:t>
            </a:r>
            <a:r>
              <a:rPr lang="en-US" altLang="zh-TW" dirty="0"/>
              <a:t>-</a:t>
            </a:r>
            <a:r>
              <a:rPr lang="zh-TW" altLang="en-US" dirty="0"/>
              <a:t>之後我就以事先準備範例資料來做說明</a:t>
            </a:r>
            <a:r>
              <a:rPr lang="en-US" altLang="zh-TW" dirty="0"/>
              <a:t>(</a:t>
            </a:r>
            <a:r>
              <a:rPr lang="zh-TW" altLang="en-US" dirty="0"/>
              <a:t>前往設定將預設的範例資料進行套用</a:t>
            </a:r>
            <a:r>
              <a:rPr lang="en-US" altLang="zh-TW" dirty="0"/>
              <a:t>)-</a:t>
            </a:r>
            <a:r>
              <a:rPr lang="zh-TW" altLang="en-US" dirty="0"/>
              <a:t>可以任務分為高中低三種優先度</a:t>
            </a:r>
            <a:r>
              <a:rPr lang="en-US" altLang="zh-TW" dirty="0"/>
              <a:t>-</a:t>
            </a:r>
            <a:r>
              <a:rPr lang="zh-TW" altLang="en-US" dirty="0"/>
              <a:t>以及截止日期也根據是否快要到期制定不同的顏色，我將</a:t>
            </a:r>
            <a:r>
              <a:rPr lang="en-US" altLang="zh-TW" dirty="0"/>
              <a:t>3</a:t>
            </a:r>
            <a:r>
              <a:rPr lang="zh-TW" altLang="en-US" dirty="0"/>
              <a:t>天內到期的任務標示為黃色，今天到期或是逾期的任務標示紅色，那這個日期也是根據當天的日期動態產生的，為的是每次測試都可以覆蓋所有截止日期的測試場景</a:t>
            </a:r>
            <a:r>
              <a:rPr lang="en-US" altLang="zh-TW" dirty="0"/>
              <a:t>-</a:t>
            </a:r>
            <a:r>
              <a:rPr lang="zh-TW" altLang="en-US" dirty="0"/>
              <a:t>可以看到我有對</a:t>
            </a:r>
            <a:r>
              <a:rPr lang="en-US" altLang="zh-TW" dirty="0"/>
              <a:t>XSS</a:t>
            </a:r>
            <a:r>
              <a:rPr lang="zh-TW" altLang="en-US" dirty="0"/>
              <a:t>做基礎的防護，像是這個任務在標題及描述都用了</a:t>
            </a:r>
            <a:r>
              <a:rPr lang="en-US" altLang="zh-TW" dirty="0"/>
              <a:t>HTML</a:t>
            </a:r>
            <a:r>
              <a:rPr lang="zh-TW" altLang="en-US" dirty="0"/>
              <a:t>語法，並沒有被瀏覽器執行</a:t>
            </a:r>
            <a:r>
              <a:rPr lang="en-US" altLang="zh-TW" dirty="0"/>
              <a:t>-</a:t>
            </a:r>
            <a:r>
              <a:rPr lang="zh-TW" altLang="en-US" dirty="0"/>
              <a:t>使用者可以用拖曳任務的形式來快速切換狀態</a:t>
            </a:r>
            <a:r>
              <a:rPr lang="en-US" altLang="zh-TW" dirty="0"/>
              <a:t>-</a:t>
            </a:r>
            <a:r>
              <a:rPr lang="zh-TW" altLang="en-US" dirty="0"/>
              <a:t>可以看到總覽頁也是會實時更新目前的任務狀態</a:t>
            </a:r>
            <a:r>
              <a:rPr lang="en-US" altLang="zh-TW" dirty="0"/>
              <a:t>-</a:t>
            </a:r>
            <a:r>
              <a:rPr lang="zh-TW" altLang="en-US" dirty="0"/>
              <a:t>在設定可以清除所有資料，讓看板回到初始狀態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AI </a:t>
            </a:r>
            <a:r>
              <a:rPr lang="zh-TW" altLang="en-US" dirty="0"/>
              <a:t>使用率的部分，我主要是依照不同區塊來區分。</a:t>
            </a:r>
          </a:p>
          <a:p>
            <a:r>
              <a:rPr lang="en-US" altLang="zh-TW" dirty="0"/>
              <a:t>CSS </a:t>
            </a:r>
            <a:r>
              <a:rPr lang="zh-TW" altLang="en-US" dirty="0"/>
              <a:t>的部分使用 </a:t>
            </a:r>
            <a:r>
              <a:rPr lang="en-US" altLang="zh-TW" dirty="0"/>
              <a:t>AI </a:t>
            </a:r>
            <a:r>
              <a:rPr lang="zh-TW" altLang="en-US" dirty="0"/>
              <a:t>較多，因為我不想把大部分時間花在視覺設計細節上，所以像顏色設計、陰影、動畫效果，</a:t>
            </a:r>
            <a:r>
              <a:rPr lang="en-US" altLang="zh-TW" dirty="0"/>
              <a:t>AI </a:t>
            </a:r>
            <a:r>
              <a:rPr lang="zh-TW" altLang="en-US" dirty="0"/>
              <a:t>輔助比例比較高。不過版面主體架構，例如哪些區塊適合用 </a:t>
            </a:r>
            <a:r>
              <a:rPr lang="en-US" altLang="zh-TW" dirty="0"/>
              <a:t>flex</a:t>
            </a:r>
            <a:r>
              <a:rPr lang="zh-TW" altLang="en-US" dirty="0"/>
              <a:t>、哪些地方適合用 </a:t>
            </a:r>
            <a:r>
              <a:rPr lang="en-US" altLang="zh-TW" dirty="0"/>
              <a:t>grid</a:t>
            </a:r>
            <a:r>
              <a:rPr lang="zh-TW" altLang="en-US" dirty="0"/>
              <a:t>，以及 </a:t>
            </a:r>
            <a:r>
              <a:rPr lang="en-US" altLang="zh-TW" dirty="0"/>
              <a:t>hover </a:t>
            </a:r>
            <a:r>
              <a:rPr lang="zh-TW" altLang="en-US" dirty="0"/>
              <a:t>互動要怎麼呈現，是我先完成雛形後，再請 </a:t>
            </a:r>
            <a:r>
              <a:rPr lang="en-US" altLang="zh-TW" dirty="0"/>
              <a:t>AI </a:t>
            </a:r>
            <a:r>
              <a:rPr lang="zh-TW" altLang="en-US" dirty="0"/>
              <a:t>協助優化成比較完整的視覺風格。</a:t>
            </a:r>
          </a:p>
          <a:p>
            <a:r>
              <a:rPr lang="en-US" altLang="zh-TW" dirty="0"/>
              <a:t>JavaScript </a:t>
            </a:r>
            <a:r>
              <a:rPr lang="zh-TW" altLang="en-US" dirty="0"/>
              <a:t>和 </a:t>
            </a:r>
            <a:r>
              <a:rPr lang="en-US" altLang="zh-TW" dirty="0"/>
              <a:t>HTML </a:t>
            </a:r>
            <a:r>
              <a:rPr lang="zh-TW" altLang="en-US" dirty="0"/>
              <a:t>的部分，</a:t>
            </a:r>
            <a:r>
              <a:rPr lang="en-US" altLang="zh-TW" dirty="0"/>
              <a:t>AI </a:t>
            </a:r>
            <a:r>
              <a:rPr lang="zh-TW" altLang="en-US" dirty="0"/>
              <a:t>主要用在 </a:t>
            </a:r>
            <a:r>
              <a:rPr lang="en-US" altLang="zh-TW" dirty="0"/>
              <a:t>code review</a:t>
            </a:r>
            <a:r>
              <a:rPr lang="zh-TW" altLang="en-US" dirty="0"/>
              <a:t>、</a:t>
            </a:r>
            <a:r>
              <a:rPr lang="en-US" altLang="zh-TW" dirty="0"/>
              <a:t>debug</a:t>
            </a:r>
            <a:r>
              <a:rPr lang="zh-TW" altLang="en-US" dirty="0"/>
              <a:t>、結構微調，以及提供重構方向。我在使用 </a:t>
            </a:r>
            <a:r>
              <a:rPr lang="en-US" altLang="zh-TW" dirty="0"/>
              <a:t>AI </a:t>
            </a:r>
            <a:r>
              <a:rPr lang="zh-TW" altLang="en-US" dirty="0"/>
              <a:t>時，這部分我會要求 </a:t>
            </a:r>
            <a:r>
              <a:rPr lang="en-US" altLang="zh-TW" dirty="0"/>
              <a:t>AI</a:t>
            </a:r>
            <a:r>
              <a:rPr lang="zh-TW" altLang="en-US" dirty="0"/>
              <a:t> 不要直接生成完整程式碼，而是提供思路或 </a:t>
            </a:r>
            <a:r>
              <a:rPr lang="en-US" altLang="zh-TW" dirty="0"/>
              <a:t>pseudo-code</a:t>
            </a:r>
            <a:r>
              <a:rPr lang="zh-TW" altLang="en-US" dirty="0"/>
              <a:t>，實際功能撰寫仍然由我自己完成。</a:t>
            </a:r>
          </a:p>
          <a:p>
            <a:r>
              <a:rPr lang="zh-TW" altLang="en-US" dirty="0"/>
              <a:t>所以整體來說，</a:t>
            </a:r>
            <a:r>
              <a:rPr lang="en-US" altLang="zh-TW" dirty="0"/>
              <a:t>AI </a:t>
            </a:r>
            <a:r>
              <a:rPr lang="zh-TW" altLang="en-US" dirty="0"/>
              <a:t>在這個專題中比較像是輔助工具，主要幫助我提升視覺完成度、檢查盲點與釐清觀念，不是直接代替我完成整個作品。</a:t>
            </a:r>
          </a:p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KANBAN Lite - My Board.png"/>
          <p:cNvPicPr>
            <a:picLocks noChangeAspect="1"/>
          </p:cNvPicPr>
          <p:nvPr/>
        </p:nvPicPr>
        <p:blipFill>
          <a:blip r:embed="rId3">
            <a:alphaModFix amt="93000"/>
          </a:blip>
          <a:stretch>
            <a:fillRect/>
          </a:stretch>
        </p:blipFill>
        <p:spPr>
          <a:xfrm>
            <a:off x="1097280" y="411480"/>
            <a:ext cx="11064240" cy="53949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117">
              <a:alpha val="92000"/>
            </a:srgbClr>
          </a:solidFill>
          <a:ln w="12700">
            <a:solidFill>
              <a:srgbClr val="0F111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117">
              <a:alpha val="84000"/>
            </a:srgbClr>
          </a:solidFill>
          <a:ln w="12700">
            <a:solidFill>
              <a:srgbClr val="0F111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Shap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6D7CFF"/>
          </a:solidFill>
          <a:ln w="12700">
            <a:solidFill>
              <a:srgbClr val="6D7C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Shape 3"/>
          <p:cNvSpPr/>
          <p:nvPr/>
        </p:nvSpPr>
        <p:spPr>
          <a:xfrm>
            <a:off x="713232" y="1024128"/>
            <a:ext cx="1508760" cy="292608"/>
          </a:xfrm>
          <a:prstGeom prst="roundRect">
            <a:avLst>
              <a:gd name="adj" fmla="val 25000"/>
            </a:avLst>
          </a:prstGeom>
          <a:solidFill>
            <a:srgbClr val="6D7CFF">
              <a:alpha val="85000"/>
            </a:srgbClr>
          </a:solidFill>
          <a:ln w="12700">
            <a:solidFill>
              <a:srgbClr val="6D7CFF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7" name="Text 4"/>
          <p:cNvSpPr/>
          <p:nvPr/>
        </p:nvSpPr>
        <p:spPr>
          <a:xfrm>
            <a:off x="777240" y="1090422"/>
            <a:ext cx="138074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HTML / CSS / JS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2331720" y="1024128"/>
            <a:ext cx="804672" cy="292608"/>
          </a:xfrm>
          <a:prstGeom prst="roundRect">
            <a:avLst>
              <a:gd name="adj" fmla="val 25000"/>
            </a:avLst>
          </a:prstGeom>
          <a:solidFill>
            <a:srgbClr val="3DD68C">
              <a:alpha val="85000"/>
            </a:srgbClr>
          </a:solidFill>
          <a:ln w="12700">
            <a:solidFill>
              <a:srgbClr val="3DD68C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Text 6"/>
          <p:cNvSpPr/>
          <p:nvPr/>
        </p:nvSpPr>
        <p:spPr>
          <a:xfrm>
            <a:off x="2395728" y="1097280"/>
            <a:ext cx="6766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1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專案管理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246120" y="1024128"/>
            <a:ext cx="900430" cy="292608"/>
          </a:xfrm>
          <a:prstGeom prst="roundRect">
            <a:avLst>
              <a:gd name="adj" fmla="val 25000"/>
            </a:avLst>
          </a:prstGeom>
          <a:solidFill>
            <a:srgbClr val="F5B942">
              <a:alpha val="85000"/>
            </a:srgbClr>
          </a:solidFill>
          <a:ln w="12700">
            <a:solidFill>
              <a:srgbClr val="F5B942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Text 8"/>
          <p:cNvSpPr/>
          <p:nvPr/>
        </p:nvSpPr>
        <p:spPr>
          <a:xfrm>
            <a:off x="3168396" y="1097280"/>
            <a:ext cx="101498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1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滾動規劃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13232" y="1874520"/>
            <a:ext cx="6583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5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KANBAN Lite</a:t>
            </a:r>
            <a:endParaRPr lang="en-US" sz="4500" dirty="0"/>
          </a:p>
        </p:txBody>
      </p:sp>
      <p:sp>
        <p:nvSpPr>
          <p:cNvPr id="13" name="Text 10"/>
          <p:cNvSpPr/>
          <p:nvPr/>
        </p:nvSpPr>
        <p:spPr>
          <a:xfrm>
            <a:off x="749808" y="2633472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bg2">
                    <a:lumMod val="75000"/>
                  </a:schemeClr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小型任務流程管理系統</a:t>
            </a:r>
            <a:endParaRPr lang="en-US" sz="20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4" name="Text 11"/>
          <p:cNvSpPr/>
          <p:nvPr/>
        </p:nvSpPr>
        <p:spPr>
          <a:xfrm>
            <a:off x="768096" y="309067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 err="1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期中專題報告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11201400" y="626364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74809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950" dirty="0"/>
          </a:p>
        </p:txBody>
      </p:sp>
      <p:sp>
        <p:nvSpPr>
          <p:cNvPr id="48" name="Text 19">
            <a:extLst>
              <a:ext uri="{FF2B5EF4-FFF2-40B4-BE49-F238E27FC236}">
                <a16:creationId xmlns:a16="http://schemas.microsoft.com/office/drawing/2014/main" id="{87175DD8-4287-6EBB-7C03-A2E5AD7C1796}"/>
              </a:ext>
            </a:extLst>
          </p:cNvPr>
          <p:cNvSpPr/>
          <p:nvPr/>
        </p:nvSpPr>
        <p:spPr>
          <a:xfrm>
            <a:off x="749808" y="3886200"/>
            <a:ext cx="2468880" cy="292608"/>
          </a:xfrm>
          <a:prstGeom prst="rect">
            <a:avLst/>
          </a:prstGeom>
          <a:solidFill>
            <a:srgbClr val="6D7CFF">
              <a:alpha val="16000"/>
            </a:srgbClr>
          </a:solidFill>
          <a:ln w="12700">
            <a:solidFill>
              <a:srgbClr val="6D7CFF">
                <a:alpha val="85000"/>
              </a:srgbClr>
            </a:solidFill>
          </a:ln>
        </p:spPr>
        <p:txBody>
          <a:bodyPr wrap="square" lIns="508" tIns="508" rIns="508" bIns="508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D7CFF"/>
                </a:solidFill>
              </a:rPr>
              <a:t>Task｜Dashboard｜Workflow</a:t>
            </a:r>
            <a:endParaRPr lang="en-US" sz="1100" dirty="0"/>
          </a:p>
        </p:txBody>
      </p:sp>
      <p:sp>
        <p:nvSpPr>
          <p:cNvPr id="49" name="Shape 4">
            <a:extLst>
              <a:ext uri="{FF2B5EF4-FFF2-40B4-BE49-F238E27FC236}">
                <a16:creationId xmlns:a16="http://schemas.microsoft.com/office/drawing/2014/main" id="{62C1524A-0D69-CF3D-CA35-8EE682F467A0}"/>
              </a:ext>
            </a:extLst>
          </p:cNvPr>
          <p:cNvSpPr/>
          <p:nvPr/>
        </p:nvSpPr>
        <p:spPr>
          <a:xfrm>
            <a:off x="7726680" y="1024128"/>
            <a:ext cx="3931920" cy="4572000"/>
          </a:xfrm>
          <a:prstGeom prst="roundRect">
            <a:avLst>
              <a:gd name="adj" fmla="val 2791"/>
            </a:avLst>
          </a:prstGeom>
          <a:solidFill>
            <a:srgbClr val="121621"/>
          </a:solidFill>
          <a:ln w="12700">
            <a:solidFill>
              <a:srgbClr val="33405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0" name="Shape 5">
            <a:extLst>
              <a:ext uri="{FF2B5EF4-FFF2-40B4-BE49-F238E27FC236}">
                <a16:creationId xmlns:a16="http://schemas.microsoft.com/office/drawing/2014/main" id="{5940B0FA-87E6-0364-CAD8-ADFCE56257AD}"/>
              </a:ext>
            </a:extLst>
          </p:cNvPr>
          <p:cNvSpPr/>
          <p:nvPr/>
        </p:nvSpPr>
        <p:spPr>
          <a:xfrm>
            <a:off x="7955280" y="1344168"/>
            <a:ext cx="1042416" cy="3749040"/>
          </a:xfrm>
          <a:prstGeom prst="roundRect">
            <a:avLst>
              <a:gd name="adj" fmla="val 10526"/>
            </a:avLst>
          </a:prstGeom>
          <a:solidFill>
            <a:srgbClr val="1A2030"/>
          </a:solidFill>
          <a:ln w="12700">
            <a:solidFill>
              <a:srgbClr val="33405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1" name="Text 6">
            <a:extLst>
              <a:ext uri="{FF2B5EF4-FFF2-40B4-BE49-F238E27FC236}">
                <a16:creationId xmlns:a16="http://schemas.microsoft.com/office/drawing/2014/main" id="{35DB1EA1-89C3-6E25-A9B5-527F0046740B}"/>
              </a:ext>
            </a:extLst>
          </p:cNvPr>
          <p:cNvSpPr/>
          <p:nvPr/>
        </p:nvSpPr>
        <p:spPr>
          <a:xfrm>
            <a:off x="8028432" y="1554480"/>
            <a:ext cx="8961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3F4F6"/>
                </a:solidFill>
              </a:rPr>
              <a:t>To Do</a:t>
            </a:r>
            <a:endParaRPr lang="en-US" sz="1000" dirty="0"/>
          </a:p>
        </p:txBody>
      </p:sp>
      <p:sp>
        <p:nvSpPr>
          <p:cNvPr id="52" name="Shape 7">
            <a:extLst>
              <a:ext uri="{FF2B5EF4-FFF2-40B4-BE49-F238E27FC236}">
                <a16:creationId xmlns:a16="http://schemas.microsoft.com/office/drawing/2014/main" id="{5E4C56AF-46C8-37A4-B896-66666329DC3B}"/>
              </a:ext>
            </a:extLst>
          </p:cNvPr>
          <p:cNvSpPr/>
          <p:nvPr/>
        </p:nvSpPr>
        <p:spPr>
          <a:xfrm>
            <a:off x="8065008" y="1984248"/>
            <a:ext cx="822960" cy="438912"/>
          </a:xfrm>
          <a:prstGeom prst="roundRect">
            <a:avLst>
              <a:gd name="adj" fmla="val 25000"/>
            </a:avLst>
          </a:prstGeom>
          <a:solidFill>
            <a:srgbClr val="252D3D"/>
          </a:solidFill>
          <a:ln w="12700">
            <a:solidFill>
              <a:srgbClr val="748094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3" name="Shape 8">
            <a:extLst>
              <a:ext uri="{FF2B5EF4-FFF2-40B4-BE49-F238E27FC236}">
                <a16:creationId xmlns:a16="http://schemas.microsoft.com/office/drawing/2014/main" id="{25DEFBBF-975D-36F1-2959-28B184BADA08}"/>
              </a:ext>
            </a:extLst>
          </p:cNvPr>
          <p:cNvSpPr/>
          <p:nvPr/>
        </p:nvSpPr>
        <p:spPr>
          <a:xfrm>
            <a:off x="8065008" y="2670048"/>
            <a:ext cx="822960" cy="438912"/>
          </a:xfrm>
          <a:prstGeom prst="roundRect">
            <a:avLst>
              <a:gd name="adj" fmla="val 25000"/>
            </a:avLst>
          </a:prstGeom>
          <a:solidFill>
            <a:srgbClr val="252D3D"/>
          </a:solidFill>
          <a:ln w="12700">
            <a:solidFill>
              <a:srgbClr val="748094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4" name="Shape 9">
            <a:extLst>
              <a:ext uri="{FF2B5EF4-FFF2-40B4-BE49-F238E27FC236}">
                <a16:creationId xmlns:a16="http://schemas.microsoft.com/office/drawing/2014/main" id="{07FA3E32-1BEE-34D4-05A8-8D2FB37B841C}"/>
              </a:ext>
            </a:extLst>
          </p:cNvPr>
          <p:cNvSpPr/>
          <p:nvPr/>
        </p:nvSpPr>
        <p:spPr>
          <a:xfrm>
            <a:off x="8065008" y="3355848"/>
            <a:ext cx="822960" cy="438912"/>
          </a:xfrm>
          <a:prstGeom prst="roundRect">
            <a:avLst>
              <a:gd name="adj" fmla="val 25000"/>
            </a:avLst>
          </a:prstGeom>
          <a:solidFill>
            <a:srgbClr val="252D3D"/>
          </a:solidFill>
          <a:ln w="12700">
            <a:solidFill>
              <a:srgbClr val="748094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5" name="Shape 10">
            <a:extLst>
              <a:ext uri="{FF2B5EF4-FFF2-40B4-BE49-F238E27FC236}">
                <a16:creationId xmlns:a16="http://schemas.microsoft.com/office/drawing/2014/main" id="{F6878419-68CF-D9C7-A6A2-3C1A94C5D379}"/>
              </a:ext>
            </a:extLst>
          </p:cNvPr>
          <p:cNvSpPr/>
          <p:nvPr/>
        </p:nvSpPr>
        <p:spPr>
          <a:xfrm>
            <a:off x="9189720" y="1344168"/>
            <a:ext cx="1042416" cy="3749040"/>
          </a:xfrm>
          <a:prstGeom prst="roundRect">
            <a:avLst>
              <a:gd name="adj" fmla="val 10526"/>
            </a:avLst>
          </a:prstGeom>
          <a:solidFill>
            <a:srgbClr val="1A2030"/>
          </a:solidFill>
          <a:ln w="12700">
            <a:solidFill>
              <a:srgbClr val="33405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6" name="Text 11">
            <a:extLst>
              <a:ext uri="{FF2B5EF4-FFF2-40B4-BE49-F238E27FC236}">
                <a16:creationId xmlns:a16="http://schemas.microsoft.com/office/drawing/2014/main" id="{238597F7-783B-F2B9-FFC7-072EB428E2E3}"/>
              </a:ext>
            </a:extLst>
          </p:cNvPr>
          <p:cNvSpPr/>
          <p:nvPr/>
        </p:nvSpPr>
        <p:spPr>
          <a:xfrm>
            <a:off x="9262872" y="1554480"/>
            <a:ext cx="8961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3F4F6"/>
                </a:solidFill>
              </a:rPr>
              <a:t>In Progress</a:t>
            </a:r>
            <a:endParaRPr lang="en-US" sz="1000" dirty="0"/>
          </a:p>
        </p:txBody>
      </p:sp>
      <p:sp>
        <p:nvSpPr>
          <p:cNvPr id="57" name="Shape 12">
            <a:extLst>
              <a:ext uri="{FF2B5EF4-FFF2-40B4-BE49-F238E27FC236}">
                <a16:creationId xmlns:a16="http://schemas.microsoft.com/office/drawing/2014/main" id="{C721EF5A-8977-47FF-6DE6-BB7A2C180616}"/>
              </a:ext>
            </a:extLst>
          </p:cNvPr>
          <p:cNvSpPr/>
          <p:nvPr/>
        </p:nvSpPr>
        <p:spPr>
          <a:xfrm>
            <a:off x="9299448" y="1984248"/>
            <a:ext cx="822960" cy="438912"/>
          </a:xfrm>
          <a:prstGeom prst="roundRect">
            <a:avLst>
              <a:gd name="adj" fmla="val 25000"/>
            </a:avLst>
          </a:prstGeom>
          <a:solidFill>
            <a:srgbClr val="29263D"/>
          </a:solidFill>
          <a:ln w="12700">
            <a:solidFill>
              <a:srgbClr val="F5B942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8" name="Shape 13">
            <a:extLst>
              <a:ext uri="{FF2B5EF4-FFF2-40B4-BE49-F238E27FC236}">
                <a16:creationId xmlns:a16="http://schemas.microsoft.com/office/drawing/2014/main" id="{EF428748-FE0C-696A-0F08-B8AE18DBAF65}"/>
              </a:ext>
            </a:extLst>
          </p:cNvPr>
          <p:cNvSpPr/>
          <p:nvPr/>
        </p:nvSpPr>
        <p:spPr>
          <a:xfrm>
            <a:off x="9299448" y="2670048"/>
            <a:ext cx="822960" cy="438912"/>
          </a:xfrm>
          <a:prstGeom prst="roundRect">
            <a:avLst>
              <a:gd name="adj" fmla="val 25000"/>
            </a:avLst>
          </a:prstGeom>
          <a:solidFill>
            <a:srgbClr val="29263D"/>
          </a:solidFill>
          <a:ln w="12700">
            <a:solidFill>
              <a:srgbClr val="F5B942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9" name="Shape 14">
            <a:extLst>
              <a:ext uri="{FF2B5EF4-FFF2-40B4-BE49-F238E27FC236}">
                <a16:creationId xmlns:a16="http://schemas.microsoft.com/office/drawing/2014/main" id="{ED07EF26-5A2D-E254-DC3B-EC0D498FF697}"/>
              </a:ext>
            </a:extLst>
          </p:cNvPr>
          <p:cNvSpPr/>
          <p:nvPr/>
        </p:nvSpPr>
        <p:spPr>
          <a:xfrm>
            <a:off x="9299448" y="3355848"/>
            <a:ext cx="822960" cy="438912"/>
          </a:xfrm>
          <a:prstGeom prst="roundRect">
            <a:avLst>
              <a:gd name="adj" fmla="val 25000"/>
            </a:avLst>
          </a:prstGeom>
          <a:solidFill>
            <a:srgbClr val="29263D"/>
          </a:solidFill>
          <a:ln w="12700">
            <a:solidFill>
              <a:srgbClr val="F5B942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0" name="Shape 15">
            <a:extLst>
              <a:ext uri="{FF2B5EF4-FFF2-40B4-BE49-F238E27FC236}">
                <a16:creationId xmlns:a16="http://schemas.microsoft.com/office/drawing/2014/main" id="{91E69B40-FDF3-B1A1-AAE2-86B79128AAB8}"/>
              </a:ext>
            </a:extLst>
          </p:cNvPr>
          <p:cNvSpPr/>
          <p:nvPr/>
        </p:nvSpPr>
        <p:spPr>
          <a:xfrm>
            <a:off x="10424160" y="1344168"/>
            <a:ext cx="1042416" cy="3749040"/>
          </a:xfrm>
          <a:prstGeom prst="roundRect">
            <a:avLst>
              <a:gd name="adj" fmla="val 10526"/>
            </a:avLst>
          </a:prstGeom>
          <a:solidFill>
            <a:srgbClr val="1A2030"/>
          </a:solidFill>
          <a:ln w="12700">
            <a:solidFill>
              <a:srgbClr val="33405A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1" name="Text 16">
            <a:extLst>
              <a:ext uri="{FF2B5EF4-FFF2-40B4-BE49-F238E27FC236}">
                <a16:creationId xmlns:a16="http://schemas.microsoft.com/office/drawing/2014/main" id="{A423FF52-EF97-2895-B797-ED4C282E4F8F}"/>
              </a:ext>
            </a:extLst>
          </p:cNvPr>
          <p:cNvSpPr/>
          <p:nvPr/>
        </p:nvSpPr>
        <p:spPr>
          <a:xfrm>
            <a:off x="10497312" y="1554480"/>
            <a:ext cx="8961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3F4F6"/>
                </a:solidFill>
              </a:rPr>
              <a:t>Done</a:t>
            </a:r>
            <a:endParaRPr lang="en-US" sz="1000" dirty="0"/>
          </a:p>
        </p:txBody>
      </p:sp>
      <p:sp>
        <p:nvSpPr>
          <p:cNvPr id="62" name="Shape 17">
            <a:extLst>
              <a:ext uri="{FF2B5EF4-FFF2-40B4-BE49-F238E27FC236}">
                <a16:creationId xmlns:a16="http://schemas.microsoft.com/office/drawing/2014/main" id="{0962D564-C277-1C38-2598-20FFC83515D5}"/>
              </a:ext>
            </a:extLst>
          </p:cNvPr>
          <p:cNvSpPr/>
          <p:nvPr/>
        </p:nvSpPr>
        <p:spPr>
          <a:xfrm>
            <a:off x="10533888" y="1984248"/>
            <a:ext cx="822960" cy="438912"/>
          </a:xfrm>
          <a:prstGeom prst="roundRect">
            <a:avLst>
              <a:gd name="adj" fmla="val 25000"/>
            </a:avLst>
          </a:prstGeom>
          <a:solidFill>
            <a:srgbClr val="1D3A32"/>
          </a:solidFill>
          <a:ln w="12700">
            <a:solidFill>
              <a:srgbClr val="3DD68C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3" name="Shape 18">
            <a:extLst>
              <a:ext uri="{FF2B5EF4-FFF2-40B4-BE49-F238E27FC236}">
                <a16:creationId xmlns:a16="http://schemas.microsoft.com/office/drawing/2014/main" id="{1E8AC355-52F5-097C-7B2E-6BABC898D4E2}"/>
              </a:ext>
            </a:extLst>
          </p:cNvPr>
          <p:cNvSpPr/>
          <p:nvPr/>
        </p:nvSpPr>
        <p:spPr>
          <a:xfrm>
            <a:off x="10533888" y="2670048"/>
            <a:ext cx="822960" cy="438912"/>
          </a:xfrm>
          <a:prstGeom prst="roundRect">
            <a:avLst>
              <a:gd name="adj" fmla="val 25000"/>
            </a:avLst>
          </a:prstGeom>
          <a:solidFill>
            <a:srgbClr val="1D3A32"/>
          </a:solidFill>
          <a:ln w="12700">
            <a:solidFill>
              <a:srgbClr val="3DD68C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5" name="Text 10">
            <a:extLst>
              <a:ext uri="{FF2B5EF4-FFF2-40B4-BE49-F238E27FC236}">
                <a16:creationId xmlns:a16="http://schemas.microsoft.com/office/drawing/2014/main" id="{B504A2FB-FA7C-0B8E-6AAE-0096D49D1322}"/>
              </a:ext>
            </a:extLst>
          </p:cNvPr>
          <p:cNvSpPr/>
          <p:nvPr/>
        </p:nvSpPr>
        <p:spPr>
          <a:xfrm>
            <a:off x="768096" y="605790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b="1" dirty="0">
                <a:solidFill>
                  <a:schemeClr val="bg2">
                    <a:lumMod val="75000"/>
                  </a:schemeClr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發表者：盧韋諺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117"/>
          </a:solidFill>
          <a:ln w="12700">
            <a:solidFill>
              <a:srgbClr val="0F1117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6D7CFF"/>
          </a:solidFill>
          <a:ln w="12700">
            <a:solidFill>
              <a:srgbClr val="6D7C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Shape 2"/>
          <p:cNvSpPr/>
          <p:nvPr/>
        </p:nvSpPr>
        <p:spPr>
          <a:xfrm>
            <a:off x="594360" y="6355080"/>
            <a:ext cx="10972800" cy="0"/>
          </a:xfrm>
          <a:prstGeom prst="line">
            <a:avLst/>
          </a:prstGeom>
          <a:noFill/>
          <a:ln w="12700">
            <a:solidFill>
              <a:srgbClr val="252D3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/>
          <p:nvPr/>
        </p:nvSpPr>
        <p:spPr>
          <a:xfrm>
            <a:off x="594360" y="36576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什麼是 Kanban？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94360" y="64465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4809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KANBAN Lite｜期中專題報告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1292840" y="638251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74809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49808" y="1115568"/>
            <a:ext cx="10771632" cy="1051560"/>
          </a:xfrm>
          <a:prstGeom prst="roundRect">
            <a:avLst>
              <a:gd name="adj" fmla="val 12174"/>
            </a:avLst>
          </a:prstGeom>
          <a:solidFill>
            <a:srgbClr val="1A2030"/>
          </a:solidFill>
          <a:ln w="13970">
            <a:solidFill>
              <a:srgbClr val="33405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987552" y="1371600"/>
            <a:ext cx="10287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看板是一種敏捷管理方法，使用視覺化看板協助團隊跨不同完成階段追蹤工作。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987552" y="1755648"/>
            <a:ext cx="10149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8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它強調持續改進，將工作項目從待辦項目「提取」至穩定且可管理的流程，而不是一次推送大量工作給團隊。</a:t>
            </a:r>
            <a:endParaRPr lang="en-US" sz="1180" dirty="0"/>
          </a:p>
        </p:txBody>
      </p:sp>
      <p:sp>
        <p:nvSpPr>
          <p:cNvPr id="14" name="Shape 12"/>
          <p:cNvSpPr/>
          <p:nvPr/>
        </p:nvSpPr>
        <p:spPr>
          <a:xfrm>
            <a:off x="822960" y="2606040"/>
            <a:ext cx="5166360" cy="960120"/>
          </a:xfrm>
          <a:prstGeom prst="roundRect">
            <a:avLst>
              <a:gd name="adj" fmla="val 9524"/>
            </a:avLst>
          </a:prstGeom>
          <a:solidFill>
            <a:srgbClr val="1A2030"/>
          </a:solidFill>
          <a:ln w="12700">
            <a:solidFill>
              <a:srgbClr val="252D3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Shape 13"/>
          <p:cNvSpPr/>
          <p:nvPr/>
        </p:nvSpPr>
        <p:spPr>
          <a:xfrm>
            <a:off x="822960" y="2606040"/>
            <a:ext cx="73152" cy="960120"/>
          </a:xfrm>
          <a:prstGeom prst="rect">
            <a:avLst/>
          </a:prstGeom>
          <a:solidFill>
            <a:srgbClr val="6D7CFF"/>
          </a:solidFill>
          <a:ln w="12700">
            <a:solidFill>
              <a:srgbClr val="6D7C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Text 14"/>
          <p:cNvSpPr/>
          <p:nvPr/>
        </p:nvSpPr>
        <p:spPr>
          <a:xfrm>
            <a:off x="1051560" y="277063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視覺化工作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51560" y="3191256"/>
            <a:ext cx="47548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把需求、Bug、文件等工作拆成卡片，放在看板上追蹤。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309360" y="2606040"/>
            <a:ext cx="5166360" cy="960120"/>
          </a:xfrm>
          <a:prstGeom prst="roundRect">
            <a:avLst>
              <a:gd name="adj" fmla="val 9524"/>
            </a:avLst>
          </a:prstGeom>
          <a:solidFill>
            <a:srgbClr val="1A2030"/>
          </a:solidFill>
          <a:ln w="12700">
            <a:solidFill>
              <a:srgbClr val="252D3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Shape 17"/>
          <p:cNvSpPr/>
          <p:nvPr/>
        </p:nvSpPr>
        <p:spPr>
          <a:xfrm>
            <a:off x="6309360" y="2606040"/>
            <a:ext cx="73152" cy="960120"/>
          </a:xfrm>
          <a:prstGeom prst="rect">
            <a:avLst/>
          </a:prstGeom>
          <a:solidFill>
            <a:srgbClr val="F5B942"/>
          </a:solidFill>
          <a:ln w="12700">
            <a:solidFill>
              <a:srgbClr val="F5B94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Text 18"/>
          <p:cNvSpPr/>
          <p:nvPr/>
        </p:nvSpPr>
        <p:spPr>
          <a:xfrm>
            <a:off x="6537960" y="277063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追蹤完成階段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537960" y="3191256"/>
            <a:ext cx="47548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常見欄位如 To Do、In Progress、Done，讓進度一眼可見。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22960" y="3931920"/>
            <a:ext cx="5166360" cy="960120"/>
          </a:xfrm>
          <a:prstGeom prst="roundRect">
            <a:avLst>
              <a:gd name="adj" fmla="val 9524"/>
            </a:avLst>
          </a:prstGeom>
          <a:solidFill>
            <a:srgbClr val="1A2030"/>
          </a:solidFill>
          <a:ln w="12700">
            <a:solidFill>
              <a:srgbClr val="252D3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3" name="Shape 21"/>
          <p:cNvSpPr/>
          <p:nvPr/>
        </p:nvSpPr>
        <p:spPr>
          <a:xfrm>
            <a:off x="822960" y="3931920"/>
            <a:ext cx="73152" cy="960120"/>
          </a:xfrm>
          <a:prstGeom prst="rect">
            <a:avLst/>
          </a:prstGeom>
          <a:solidFill>
            <a:srgbClr val="3DD68C"/>
          </a:solidFill>
          <a:ln w="12700">
            <a:solidFill>
              <a:srgbClr val="3DD68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4" name="Text 22"/>
          <p:cNvSpPr/>
          <p:nvPr/>
        </p:nvSpPr>
        <p:spPr>
          <a:xfrm>
            <a:off x="1051560" y="409651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拉動式流程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51560" y="4517136"/>
            <a:ext cx="47548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依照目前可處理的量拉進新工作，避免一次塞入太多任務。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309360" y="3931920"/>
            <a:ext cx="5166360" cy="960120"/>
          </a:xfrm>
          <a:prstGeom prst="roundRect">
            <a:avLst>
              <a:gd name="adj" fmla="val 9524"/>
            </a:avLst>
          </a:prstGeom>
          <a:solidFill>
            <a:srgbClr val="1A2030"/>
          </a:solidFill>
          <a:ln w="12700">
            <a:solidFill>
              <a:srgbClr val="252D3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Shape 25"/>
          <p:cNvSpPr/>
          <p:nvPr/>
        </p:nvSpPr>
        <p:spPr>
          <a:xfrm>
            <a:off x="6309360" y="3931920"/>
            <a:ext cx="73152" cy="960120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8" name="Text 26"/>
          <p:cNvSpPr/>
          <p:nvPr/>
        </p:nvSpPr>
        <p:spPr>
          <a:xfrm>
            <a:off x="6537960" y="409651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持續改進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537960" y="4517136"/>
            <a:ext cx="47548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透過看板觀察瓶頸，逐步調整流程與工作分配。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1143000" y="5486400"/>
            <a:ext cx="2103120" cy="420624"/>
          </a:xfrm>
          <a:prstGeom prst="roundRect">
            <a:avLst>
              <a:gd name="adj" fmla="val 21739"/>
            </a:avLst>
          </a:prstGeom>
          <a:solidFill>
            <a:srgbClr val="222A3D"/>
          </a:solidFill>
          <a:ln w="12700">
            <a:solidFill>
              <a:srgbClr val="748094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Text 29"/>
          <p:cNvSpPr/>
          <p:nvPr/>
        </p:nvSpPr>
        <p:spPr>
          <a:xfrm>
            <a:off x="1143000" y="5486400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待辦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 rot="5400000">
            <a:off x="3364992" y="5596128"/>
            <a:ext cx="182880" cy="182880"/>
          </a:xfrm>
          <a:prstGeom prst="triangle">
            <a:avLst/>
          </a:prstGeom>
          <a:solidFill>
            <a:srgbClr val="6D7CFF"/>
          </a:solidFill>
          <a:ln w="12700">
            <a:solidFill>
              <a:srgbClr val="6D7C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Shape 31"/>
          <p:cNvSpPr/>
          <p:nvPr/>
        </p:nvSpPr>
        <p:spPr>
          <a:xfrm>
            <a:off x="3657600" y="5486400"/>
            <a:ext cx="2103120" cy="420624"/>
          </a:xfrm>
          <a:prstGeom prst="roundRect">
            <a:avLst>
              <a:gd name="adj" fmla="val 21739"/>
            </a:avLst>
          </a:prstGeom>
          <a:solidFill>
            <a:srgbClr val="222A3D"/>
          </a:solidFill>
          <a:ln w="12700">
            <a:solidFill>
              <a:srgbClr val="F5B942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4" name="Text 32"/>
          <p:cNvSpPr/>
          <p:nvPr/>
        </p:nvSpPr>
        <p:spPr>
          <a:xfrm>
            <a:off x="3657600" y="5486400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進行中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 rot="5400000">
            <a:off x="5879592" y="5596128"/>
            <a:ext cx="182880" cy="182880"/>
          </a:xfrm>
          <a:prstGeom prst="triangle">
            <a:avLst/>
          </a:prstGeom>
          <a:solidFill>
            <a:srgbClr val="6D7CFF"/>
          </a:solidFill>
          <a:ln w="12700">
            <a:solidFill>
              <a:srgbClr val="6D7C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6" name="Shape 34"/>
          <p:cNvSpPr/>
          <p:nvPr/>
        </p:nvSpPr>
        <p:spPr>
          <a:xfrm>
            <a:off x="6172200" y="5486400"/>
            <a:ext cx="2103120" cy="420624"/>
          </a:xfrm>
          <a:prstGeom prst="roundRect">
            <a:avLst>
              <a:gd name="adj" fmla="val 21739"/>
            </a:avLst>
          </a:prstGeom>
          <a:solidFill>
            <a:srgbClr val="222A3D"/>
          </a:solidFill>
          <a:ln w="12700">
            <a:solidFill>
              <a:srgbClr val="6D7CFF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7" name="Text 35"/>
          <p:cNvSpPr/>
          <p:nvPr/>
        </p:nvSpPr>
        <p:spPr>
          <a:xfrm>
            <a:off x="6172200" y="5486400"/>
            <a:ext cx="2103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 / 修正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 rot="5400000">
            <a:off x="8394192" y="5596128"/>
            <a:ext cx="182880" cy="182880"/>
          </a:xfrm>
          <a:prstGeom prst="triangle">
            <a:avLst/>
          </a:prstGeom>
          <a:solidFill>
            <a:srgbClr val="6D7CFF"/>
          </a:solidFill>
          <a:ln w="12700">
            <a:solidFill>
              <a:srgbClr val="6D7C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9" name="Shape 37"/>
          <p:cNvSpPr/>
          <p:nvPr/>
        </p:nvSpPr>
        <p:spPr>
          <a:xfrm>
            <a:off x="8686800" y="5486400"/>
            <a:ext cx="2103120" cy="420624"/>
          </a:xfrm>
          <a:prstGeom prst="roundRect">
            <a:avLst>
              <a:gd name="adj" fmla="val 21739"/>
            </a:avLst>
          </a:prstGeom>
          <a:solidFill>
            <a:srgbClr val="222A3D"/>
          </a:solidFill>
          <a:ln w="12700">
            <a:solidFill>
              <a:srgbClr val="3DD68C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0" name="Text 38"/>
          <p:cNvSpPr/>
          <p:nvPr/>
        </p:nvSpPr>
        <p:spPr>
          <a:xfrm>
            <a:off x="8686800" y="5468112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117"/>
          </a:solidFill>
          <a:ln w="12700">
            <a:solidFill>
              <a:srgbClr val="0F1117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6D7CFF"/>
          </a:solidFill>
          <a:ln w="12700">
            <a:solidFill>
              <a:srgbClr val="6D7C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Shape 2"/>
          <p:cNvSpPr/>
          <p:nvPr/>
        </p:nvSpPr>
        <p:spPr>
          <a:xfrm>
            <a:off x="594360" y="6355080"/>
            <a:ext cx="10972800" cy="0"/>
          </a:xfrm>
          <a:prstGeom prst="line">
            <a:avLst/>
          </a:prstGeom>
          <a:noFill/>
          <a:ln w="12700">
            <a:solidFill>
              <a:srgbClr val="252D3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/>
          <p:nvPr/>
        </p:nvSpPr>
        <p:spPr>
          <a:xfrm>
            <a:off x="594360" y="36576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製作動機：用 Kanban </a:t>
            </a:r>
            <a:r>
              <a:rPr lang="en-US" sz="2400" b="1" dirty="0" err="1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認識</a:t>
            </a:r>
            <a:r>
              <a:rPr lang="en-US" sz="24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SDLC</a:t>
            </a:r>
            <a:r>
              <a:rPr lang="zh-TW" altLang="en-US" sz="24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r>
              <a:rPr lang="en-US" altLang="zh-TW" sz="24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(</a:t>
            </a:r>
            <a:r>
              <a:rPr lang="zh-TW" altLang="en-US" sz="24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軟體開發生命週期</a:t>
            </a:r>
            <a:r>
              <a:rPr lang="en-US" altLang="zh-TW" sz="24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)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94360" y="64465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4809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KANBAN Lite｜期中專題報告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1292840" y="638251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74809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77240" y="1115568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我選擇 Kanban，不只是因為它適合做任務管理工具，而是因為它本身就是一種項目管理方法，可以對應到 SDLC 中的規劃、實作、測試與修正。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77240" y="1737360"/>
            <a:ext cx="1069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透過實作一個小型 Kanban 系統，我希望一邊完成作品，一邊更具體理解軟體開發生命週期。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68680" y="2788920"/>
            <a:ext cx="1993392" cy="1143000"/>
          </a:xfrm>
          <a:prstGeom prst="roundRect">
            <a:avLst>
              <a:gd name="adj" fmla="val 9600"/>
            </a:avLst>
          </a:prstGeom>
          <a:solidFill>
            <a:srgbClr val="20284C"/>
          </a:solidFill>
          <a:ln w="12700">
            <a:solidFill>
              <a:srgbClr val="6D7C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978408" y="3008376"/>
            <a:ext cx="17739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需求分析</a:t>
            </a: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033272" y="3429000"/>
            <a:ext cx="1664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要管理哪些任務資訊？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 rot="5400000">
            <a:off x="2907792" y="3264408"/>
            <a:ext cx="164592" cy="164592"/>
          </a:xfrm>
          <a:prstGeom prst="triangle">
            <a:avLst/>
          </a:prstGeom>
          <a:solidFill>
            <a:srgbClr val="6D7CFF"/>
          </a:solidFill>
          <a:ln w="12700">
            <a:solidFill>
              <a:srgbClr val="6D7C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Shape 15"/>
          <p:cNvSpPr/>
          <p:nvPr/>
        </p:nvSpPr>
        <p:spPr>
          <a:xfrm>
            <a:off x="3063240" y="2788920"/>
            <a:ext cx="1993392" cy="1143000"/>
          </a:xfrm>
          <a:prstGeom prst="roundRect">
            <a:avLst>
              <a:gd name="adj" fmla="val 9600"/>
            </a:avLst>
          </a:prstGeom>
          <a:solidFill>
            <a:srgbClr val="1A2030"/>
          </a:solidFill>
          <a:ln w="12700">
            <a:solidFill>
              <a:srgbClr val="252D3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/>
          <p:nvPr/>
        </p:nvSpPr>
        <p:spPr>
          <a:xfrm>
            <a:off x="3172968" y="3008376"/>
            <a:ext cx="17739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規劃設計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227832" y="3429000"/>
            <a:ext cx="1664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頁面、欄位、資料結構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 rot="5400000">
            <a:off x="5102352" y="3264408"/>
            <a:ext cx="164592" cy="164592"/>
          </a:xfrm>
          <a:prstGeom prst="triangle">
            <a:avLst/>
          </a:prstGeom>
          <a:solidFill>
            <a:srgbClr val="6D7CFF"/>
          </a:solidFill>
          <a:ln w="12700">
            <a:solidFill>
              <a:srgbClr val="6D7C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Shape 19"/>
          <p:cNvSpPr/>
          <p:nvPr/>
        </p:nvSpPr>
        <p:spPr>
          <a:xfrm>
            <a:off x="5257800" y="2788920"/>
            <a:ext cx="1993392" cy="1143000"/>
          </a:xfrm>
          <a:prstGeom prst="roundRect">
            <a:avLst>
              <a:gd name="adj" fmla="val 9600"/>
            </a:avLst>
          </a:prstGeom>
          <a:solidFill>
            <a:srgbClr val="1A2030"/>
          </a:solidFill>
          <a:ln w="12700">
            <a:solidFill>
              <a:srgbClr val="252D3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2" name="Text 20"/>
          <p:cNvSpPr/>
          <p:nvPr/>
        </p:nvSpPr>
        <p:spPr>
          <a:xfrm>
            <a:off x="5367528" y="3008376"/>
            <a:ext cx="17739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實作開發</a:t>
            </a: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5422392" y="3429000"/>
            <a:ext cx="1664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HTML / CSS / JS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 rot="5400000">
            <a:off x="7296912" y="3264408"/>
            <a:ext cx="164592" cy="164592"/>
          </a:xfrm>
          <a:prstGeom prst="triangle">
            <a:avLst/>
          </a:prstGeom>
          <a:solidFill>
            <a:srgbClr val="6D7CFF"/>
          </a:solidFill>
          <a:ln w="12700">
            <a:solidFill>
              <a:srgbClr val="6D7C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Shape 23"/>
          <p:cNvSpPr/>
          <p:nvPr/>
        </p:nvSpPr>
        <p:spPr>
          <a:xfrm>
            <a:off x="7452360" y="2788920"/>
            <a:ext cx="1993392" cy="1143000"/>
          </a:xfrm>
          <a:prstGeom prst="roundRect">
            <a:avLst>
              <a:gd name="adj" fmla="val 9600"/>
            </a:avLst>
          </a:prstGeom>
          <a:solidFill>
            <a:srgbClr val="1A2030"/>
          </a:solidFill>
          <a:ln w="12700">
            <a:solidFill>
              <a:srgbClr val="252D3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6" name="Text 24"/>
          <p:cNvSpPr/>
          <p:nvPr/>
        </p:nvSpPr>
        <p:spPr>
          <a:xfrm>
            <a:off x="7562088" y="3008376"/>
            <a:ext cx="17739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測試驗證</a:t>
            </a:r>
            <a:endParaRPr lang="en-US" sz="1330" dirty="0"/>
          </a:p>
        </p:txBody>
      </p:sp>
      <p:sp>
        <p:nvSpPr>
          <p:cNvPr id="27" name="Text 25"/>
          <p:cNvSpPr/>
          <p:nvPr/>
        </p:nvSpPr>
        <p:spPr>
          <a:xfrm>
            <a:off x="7616952" y="3429000"/>
            <a:ext cx="1664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CRUD、拖曳、統計同步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 rot="5400000">
            <a:off x="9491472" y="3264408"/>
            <a:ext cx="164592" cy="164592"/>
          </a:xfrm>
          <a:prstGeom prst="triangle">
            <a:avLst/>
          </a:prstGeom>
          <a:solidFill>
            <a:srgbClr val="6D7CFF"/>
          </a:solidFill>
          <a:ln w="12700">
            <a:solidFill>
              <a:srgbClr val="6D7C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Shape 27"/>
          <p:cNvSpPr/>
          <p:nvPr/>
        </p:nvSpPr>
        <p:spPr>
          <a:xfrm>
            <a:off x="9646920" y="2788920"/>
            <a:ext cx="1993392" cy="1143000"/>
          </a:xfrm>
          <a:prstGeom prst="roundRect">
            <a:avLst>
              <a:gd name="adj" fmla="val 9600"/>
            </a:avLst>
          </a:prstGeom>
          <a:solidFill>
            <a:srgbClr val="1A2030"/>
          </a:solidFill>
          <a:ln w="12700">
            <a:solidFill>
              <a:srgbClr val="252D3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0" name="Text 28"/>
          <p:cNvSpPr/>
          <p:nvPr/>
        </p:nvSpPr>
        <p:spPr>
          <a:xfrm>
            <a:off x="9756648" y="3008376"/>
            <a:ext cx="17739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修正改善</a:t>
            </a:r>
            <a:endParaRPr lang="en-US" sz="1330" dirty="0"/>
          </a:p>
        </p:txBody>
      </p:sp>
      <p:sp>
        <p:nvSpPr>
          <p:cNvPr id="31" name="Text 29"/>
          <p:cNvSpPr/>
          <p:nvPr/>
        </p:nvSpPr>
        <p:spPr>
          <a:xfrm>
            <a:off x="9811512" y="3429000"/>
            <a:ext cx="1664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重構、邊界條件、防呆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68680" y="4800600"/>
            <a:ext cx="3246120" cy="960120"/>
          </a:xfrm>
          <a:prstGeom prst="roundRect">
            <a:avLst>
              <a:gd name="adj" fmla="val 9524"/>
            </a:avLst>
          </a:prstGeom>
          <a:solidFill>
            <a:srgbClr val="1A2030"/>
          </a:solidFill>
          <a:ln w="12700">
            <a:solidFill>
              <a:srgbClr val="252D3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Shape 31"/>
          <p:cNvSpPr/>
          <p:nvPr/>
        </p:nvSpPr>
        <p:spPr>
          <a:xfrm>
            <a:off x="868680" y="4800600"/>
            <a:ext cx="73152" cy="960120"/>
          </a:xfrm>
          <a:prstGeom prst="rect">
            <a:avLst/>
          </a:prstGeom>
          <a:solidFill>
            <a:srgbClr val="6D7CFF"/>
          </a:solidFill>
          <a:ln w="12700">
            <a:solidFill>
              <a:srgbClr val="6D7C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4" name="Text 32"/>
          <p:cNvSpPr/>
          <p:nvPr/>
        </p:nvSpPr>
        <p:spPr>
          <a:xfrm>
            <a:off x="1097280" y="496519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作品層面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1097280" y="5385816"/>
            <a:ext cx="2834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完成一個可操作的任務流程管理工具。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480560" y="4800600"/>
            <a:ext cx="3246120" cy="960120"/>
          </a:xfrm>
          <a:prstGeom prst="roundRect">
            <a:avLst>
              <a:gd name="adj" fmla="val 9524"/>
            </a:avLst>
          </a:prstGeom>
          <a:solidFill>
            <a:srgbClr val="1A2030"/>
          </a:solidFill>
          <a:ln w="12700">
            <a:solidFill>
              <a:srgbClr val="252D3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7" name="Shape 35"/>
          <p:cNvSpPr/>
          <p:nvPr/>
        </p:nvSpPr>
        <p:spPr>
          <a:xfrm>
            <a:off x="4480560" y="4800600"/>
            <a:ext cx="73152" cy="960120"/>
          </a:xfrm>
          <a:prstGeom prst="rect">
            <a:avLst/>
          </a:prstGeom>
          <a:solidFill>
            <a:srgbClr val="3DD68C"/>
          </a:solidFill>
          <a:ln w="12700">
            <a:solidFill>
              <a:srgbClr val="3DD68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8" name="Text 36"/>
          <p:cNvSpPr/>
          <p:nvPr/>
        </p:nvSpPr>
        <p:spPr>
          <a:xfrm>
            <a:off x="4709160" y="496519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學習層面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4709160" y="5385816"/>
            <a:ext cx="2834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把課堂技術放進實際開發流程。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8092440" y="4800600"/>
            <a:ext cx="3246120" cy="960120"/>
          </a:xfrm>
          <a:prstGeom prst="roundRect">
            <a:avLst>
              <a:gd name="adj" fmla="val 9524"/>
            </a:avLst>
          </a:prstGeom>
          <a:solidFill>
            <a:srgbClr val="1A2030"/>
          </a:solidFill>
          <a:ln w="12700">
            <a:solidFill>
              <a:srgbClr val="252D3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1" name="Shape 39"/>
          <p:cNvSpPr/>
          <p:nvPr/>
        </p:nvSpPr>
        <p:spPr>
          <a:xfrm>
            <a:off x="8092440" y="4800600"/>
            <a:ext cx="73152" cy="960120"/>
          </a:xfrm>
          <a:prstGeom prst="rect">
            <a:avLst/>
          </a:prstGeom>
          <a:solidFill>
            <a:srgbClr val="F5B942"/>
          </a:solidFill>
          <a:ln w="12700">
            <a:solidFill>
              <a:srgbClr val="F5B94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2" name="Text 40"/>
          <p:cNvSpPr/>
          <p:nvPr/>
        </p:nvSpPr>
        <p:spPr>
          <a:xfrm>
            <a:off x="8321040" y="496519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流程層面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8321040" y="5385816"/>
            <a:ext cx="2834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理解需求、實作、測試、修正之間的關係。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117"/>
          </a:solidFill>
          <a:ln w="12700">
            <a:solidFill>
              <a:srgbClr val="0F1117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6D7CFF"/>
          </a:solidFill>
          <a:ln w="12700">
            <a:solidFill>
              <a:srgbClr val="6D7C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Shape 2"/>
          <p:cNvSpPr/>
          <p:nvPr/>
        </p:nvSpPr>
        <p:spPr>
          <a:xfrm>
            <a:off x="594360" y="6355080"/>
            <a:ext cx="10972800" cy="0"/>
          </a:xfrm>
          <a:prstGeom prst="line">
            <a:avLst/>
          </a:prstGeom>
          <a:noFill/>
          <a:ln w="12700">
            <a:solidFill>
              <a:srgbClr val="252D3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/>
          <p:nvPr/>
        </p:nvSpPr>
        <p:spPr>
          <a:xfrm>
            <a:off x="594360" y="36576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24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實際開發時程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94360" y="64465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4809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KANBAN Lite｜期中專題報告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1292840" y="638251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74809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822960" y="1280160"/>
            <a:ext cx="10607040" cy="4526280"/>
          </a:xfrm>
          <a:prstGeom prst="roundRect">
            <a:avLst>
              <a:gd name="adj" fmla="val 2424"/>
            </a:avLst>
          </a:prstGeom>
          <a:solidFill>
            <a:srgbClr val="1A2030">
              <a:alpha val="75000"/>
            </a:srgbClr>
          </a:solidFill>
          <a:ln w="15240">
            <a:solidFill>
              <a:srgbClr val="33405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Text 10"/>
          <p:cNvSpPr/>
          <p:nvPr/>
        </p:nvSpPr>
        <p:spPr>
          <a:xfrm>
            <a:off x="822960" y="306324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74809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請將已完成的行事曆貼在此處</a:t>
            </a:r>
            <a:endParaRPr lang="en-US" sz="1900" dirty="0"/>
          </a:p>
        </p:txBody>
      </p:sp>
      <p:pic>
        <p:nvPicPr>
          <p:cNvPr id="22" name="圖片 21">
            <a:extLst>
              <a:ext uri="{FF2B5EF4-FFF2-40B4-BE49-F238E27FC236}">
                <a16:creationId xmlns:a16="http://schemas.microsoft.com/office/drawing/2014/main" id="{2EA8EBE3-8D39-584C-47B5-960BE4B0DA72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1732551" y="1286857"/>
            <a:ext cx="8696418" cy="451958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117"/>
          </a:solidFill>
          <a:ln w="12700">
            <a:solidFill>
              <a:srgbClr val="0F1117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6D7CFF"/>
          </a:solidFill>
          <a:ln w="12700">
            <a:solidFill>
              <a:srgbClr val="6D7C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Shape 2"/>
          <p:cNvSpPr/>
          <p:nvPr/>
        </p:nvSpPr>
        <p:spPr>
          <a:xfrm>
            <a:off x="594360" y="6355080"/>
            <a:ext cx="10972800" cy="0"/>
          </a:xfrm>
          <a:prstGeom prst="line">
            <a:avLst/>
          </a:prstGeom>
          <a:noFill/>
          <a:ln w="12700">
            <a:solidFill>
              <a:srgbClr val="252D3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/>
          <p:nvPr/>
        </p:nvSpPr>
        <p:spPr>
          <a:xfrm>
            <a:off x="594360" y="36576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作品概覽：KANBAN Lite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94360" y="8229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核心頁面：Dashboard 總覽 + My Board 任務看板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94360" y="64465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4809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KANBAN Lite｜期中專題報告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1292840" y="638251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74809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85800" y="1143000"/>
            <a:ext cx="5440680" cy="2971800"/>
          </a:xfrm>
          <a:prstGeom prst="roundRect">
            <a:avLst>
              <a:gd name="adj" fmla="val 3692"/>
            </a:avLst>
          </a:prstGeom>
          <a:solidFill>
            <a:srgbClr val="121621"/>
          </a:solidFill>
          <a:ln w="15240">
            <a:solidFill>
              <a:srgbClr val="33405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Shape 10"/>
          <p:cNvSpPr/>
          <p:nvPr/>
        </p:nvSpPr>
        <p:spPr>
          <a:xfrm>
            <a:off x="795528" y="1252728"/>
            <a:ext cx="5221224" cy="256032"/>
          </a:xfrm>
          <a:prstGeom prst="rect">
            <a:avLst/>
          </a:prstGeom>
          <a:solidFill>
            <a:srgbClr val="222A3D"/>
          </a:solidFill>
          <a:ln w="12700">
            <a:solidFill>
              <a:srgbClr val="222A3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Shape 11"/>
          <p:cNvSpPr/>
          <p:nvPr/>
        </p:nvSpPr>
        <p:spPr>
          <a:xfrm>
            <a:off x="914400" y="1325880"/>
            <a:ext cx="73152" cy="73152"/>
          </a:xfrm>
          <a:prstGeom prst="ellipse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Shape 12"/>
          <p:cNvSpPr/>
          <p:nvPr/>
        </p:nvSpPr>
        <p:spPr>
          <a:xfrm>
            <a:off x="1069848" y="1325880"/>
            <a:ext cx="73152" cy="73152"/>
          </a:xfrm>
          <a:prstGeom prst="ellipse">
            <a:avLst/>
          </a:prstGeom>
          <a:solidFill>
            <a:srgbClr val="F5B942"/>
          </a:solidFill>
          <a:ln w="12700">
            <a:solidFill>
              <a:srgbClr val="F5B94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Shape 13"/>
          <p:cNvSpPr/>
          <p:nvPr/>
        </p:nvSpPr>
        <p:spPr>
          <a:xfrm>
            <a:off x="1225296" y="1325880"/>
            <a:ext cx="73152" cy="73152"/>
          </a:xfrm>
          <a:prstGeom prst="ellipse">
            <a:avLst/>
          </a:prstGeom>
          <a:solidFill>
            <a:srgbClr val="3DD68C"/>
          </a:solidFill>
          <a:ln w="12700">
            <a:solidFill>
              <a:srgbClr val="3DD68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pic>
        <p:nvPicPr>
          <p:cNvPr id="16" name="Image 0" descr="/mnt/data/KANBAN Lite - 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1581912"/>
            <a:ext cx="5221224" cy="2423160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6355080" y="1143000"/>
            <a:ext cx="5166360" cy="2971800"/>
          </a:xfrm>
          <a:prstGeom prst="roundRect">
            <a:avLst>
              <a:gd name="adj" fmla="val 3692"/>
            </a:avLst>
          </a:prstGeom>
          <a:solidFill>
            <a:srgbClr val="121621"/>
          </a:solidFill>
          <a:ln w="15240">
            <a:solidFill>
              <a:srgbClr val="33405A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Shape 16"/>
          <p:cNvSpPr/>
          <p:nvPr/>
        </p:nvSpPr>
        <p:spPr>
          <a:xfrm>
            <a:off x="6464808" y="1252728"/>
            <a:ext cx="4946904" cy="256032"/>
          </a:xfrm>
          <a:prstGeom prst="rect">
            <a:avLst/>
          </a:prstGeom>
          <a:solidFill>
            <a:srgbClr val="222A3D"/>
          </a:solidFill>
          <a:ln w="12700">
            <a:solidFill>
              <a:srgbClr val="222A3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Shape 17"/>
          <p:cNvSpPr/>
          <p:nvPr/>
        </p:nvSpPr>
        <p:spPr>
          <a:xfrm>
            <a:off x="6583680" y="1325880"/>
            <a:ext cx="73152" cy="73152"/>
          </a:xfrm>
          <a:prstGeom prst="ellipse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Shape 18"/>
          <p:cNvSpPr/>
          <p:nvPr/>
        </p:nvSpPr>
        <p:spPr>
          <a:xfrm>
            <a:off x="6739128" y="1325880"/>
            <a:ext cx="73152" cy="73152"/>
          </a:xfrm>
          <a:prstGeom prst="ellipse">
            <a:avLst/>
          </a:prstGeom>
          <a:solidFill>
            <a:srgbClr val="F5B942"/>
          </a:solidFill>
          <a:ln w="12700">
            <a:solidFill>
              <a:srgbClr val="F5B94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2" name="Shape 19"/>
          <p:cNvSpPr/>
          <p:nvPr/>
        </p:nvSpPr>
        <p:spPr>
          <a:xfrm>
            <a:off x="6894576" y="1325880"/>
            <a:ext cx="73152" cy="73152"/>
          </a:xfrm>
          <a:prstGeom prst="ellipse">
            <a:avLst/>
          </a:prstGeom>
          <a:solidFill>
            <a:srgbClr val="3DD68C"/>
          </a:solidFill>
          <a:ln w="12700">
            <a:solidFill>
              <a:srgbClr val="3DD68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pic>
        <p:nvPicPr>
          <p:cNvPr id="23" name="Image 1" descr="/mnt/data/KANBAN Lite - My Bo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4808" y="1581912"/>
            <a:ext cx="4946904" cy="242316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777240" y="4526280"/>
            <a:ext cx="2468880" cy="1078992"/>
          </a:xfrm>
          <a:prstGeom prst="roundRect">
            <a:avLst>
              <a:gd name="adj" fmla="val 8475"/>
            </a:avLst>
          </a:prstGeom>
          <a:solidFill>
            <a:srgbClr val="1A2030"/>
          </a:solidFill>
          <a:ln w="12700">
            <a:solidFill>
              <a:srgbClr val="252D3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6" name="Shape 22"/>
          <p:cNvSpPr/>
          <p:nvPr/>
        </p:nvSpPr>
        <p:spPr>
          <a:xfrm>
            <a:off x="777240" y="4526280"/>
            <a:ext cx="73152" cy="1078992"/>
          </a:xfrm>
          <a:prstGeom prst="rect">
            <a:avLst/>
          </a:prstGeom>
          <a:solidFill>
            <a:srgbClr val="6D7CFF"/>
          </a:solidFill>
          <a:ln w="12700">
            <a:solidFill>
              <a:srgbClr val="6D7C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7" name="Text 23"/>
          <p:cNvSpPr/>
          <p:nvPr/>
        </p:nvSpPr>
        <p:spPr>
          <a:xfrm>
            <a:off x="1005840" y="4690872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Dashboard</a:t>
            </a:r>
            <a:endParaRPr lang="en-US" sz="1300" dirty="0"/>
          </a:p>
        </p:txBody>
      </p:sp>
      <p:sp>
        <p:nvSpPr>
          <p:cNvPr id="28" name="Text 24"/>
          <p:cNvSpPr/>
          <p:nvPr/>
        </p:nvSpPr>
        <p:spPr>
          <a:xfrm>
            <a:off x="1005840" y="5111496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總任務數、各狀態數量、完成率、到期日與高優先任務統計。</a:t>
            </a:r>
            <a:endParaRPr lang="en-US" sz="1050" dirty="0"/>
          </a:p>
        </p:txBody>
      </p:sp>
      <p:sp>
        <p:nvSpPr>
          <p:cNvPr id="29" name="Shape 25"/>
          <p:cNvSpPr/>
          <p:nvPr/>
        </p:nvSpPr>
        <p:spPr>
          <a:xfrm>
            <a:off x="3474720" y="4526280"/>
            <a:ext cx="2468880" cy="1078992"/>
          </a:xfrm>
          <a:prstGeom prst="roundRect">
            <a:avLst>
              <a:gd name="adj" fmla="val 8475"/>
            </a:avLst>
          </a:prstGeom>
          <a:solidFill>
            <a:srgbClr val="1A2030"/>
          </a:solidFill>
          <a:ln w="12700">
            <a:solidFill>
              <a:srgbClr val="252D3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0" name="Shape 26"/>
          <p:cNvSpPr/>
          <p:nvPr/>
        </p:nvSpPr>
        <p:spPr>
          <a:xfrm>
            <a:off x="3474720" y="4526280"/>
            <a:ext cx="73152" cy="1078992"/>
          </a:xfrm>
          <a:prstGeom prst="rect">
            <a:avLst/>
          </a:prstGeom>
          <a:solidFill>
            <a:srgbClr val="F5B942"/>
          </a:solidFill>
          <a:ln w="12700">
            <a:solidFill>
              <a:srgbClr val="F5B94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1" name="Text 27"/>
          <p:cNvSpPr/>
          <p:nvPr/>
        </p:nvSpPr>
        <p:spPr>
          <a:xfrm>
            <a:off x="3703320" y="4690872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Kanban Board</a:t>
            </a:r>
            <a:endParaRPr lang="en-US" sz="1300" dirty="0"/>
          </a:p>
        </p:txBody>
      </p:sp>
      <p:sp>
        <p:nvSpPr>
          <p:cNvPr id="32" name="Text 28"/>
          <p:cNvSpPr/>
          <p:nvPr/>
        </p:nvSpPr>
        <p:spPr>
          <a:xfrm>
            <a:off x="3703320" y="5111496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 To Do / In Progress / Done 呈現任務狀態，支援拖曳調整。</a:t>
            </a:r>
            <a:endParaRPr lang="en-US" sz="1050" dirty="0"/>
          </a:p>
        </p:txBody>
      </p:sp>
      <p:sp>
        <p:nvSpPr>
          <p:cNvPr id="33" name="Shape 29"/>
          <p:cNvSpPr/>
          <p:nvPr/>
        </p:nvSpPr>
        <p:spPr>
          <a:xfrm>
            <a:off x="6172200" y="4526280"/>
            <a:ext cx="2468880" cy="1078992"/>
          </a:xfrm>
          <a:prstGeom prst="roundRect">
            <a:avLst>
              <a:gd name="adj" fmla="val 8475"/>
            </a:avLst>
          </a:prstGeom>
          <a:solidFill>
            <a:srgbClr val="1A2030"/>
          </a:solidFill>
          <a:ln w="12700">
            <a:solidFill>
              <a:srgbClr val="252D3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4" name="Shape 30"/>
          <p:cNvSpPr/>
          <p:nvPr/>
        </p:nvSpPr>
        <p:spPr>
          <a:xfrm>
            <a:off x="6172200" y="4526280"/>
            <a:ext cx="73152" cy="1078992"/>
          </a:xfrm>
          <a:prstGeom prst="rect">
            <a:avLst/>
          </a:prstGeom>
          <a:solidFill>
            <a:srgbClr val="3DD68C"/>
          </a:solidFill>
          <a:ln w="12700">
            <a:solidFill>
              <a:srgbClr val="3DD68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5" name="Text 31"/>
          <p:cNvSpPr/>
          <p:nvPr/>
        </p:nvSpPr>
        <p:spPr>
          <a:xfrm>
            <a:off x="6400800" y="4690872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Task CRUD</a:t>
            </a:r>
            <a:endParaRPr lang="en-US" sz="1300" dirty="0"/>
          </a:p>
        </p:txBody>
      </p:sp>
      <p:sp>
        <p:nvSpPr>
          <p:cNvPr id="36" name="Text 32"/>
          <p:cNvSpPr/>
          <p:nvPr/>
        </p:nvSpPr>
        <p:spPr>
          <a:xfrm>
            <a:off x="6400800" y="5111496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可新增、編輯、刪除任務，並設定優先度、標籤、狀態、截止日期。</a:t>
            </a:r>
            <a:endParaRPr lang="en-US" sz="1050" dirty="0"/>
          </a:p>
        </p:txBody>
      </p:sp>
      <p:sp>
        <p:nvSpPr>
          <p:cNvPr id="37" name="Shape 33"/>
          <p:cNvSpPr/>
          <p:nvPr/>
        </p:nvSpPr>
        <p:spPr>
          <a:xfrm>
            <a:off x="8869680" y="4526280"/>
            <a:ext cx="2468880" cy="1078992"/>
          </a:xfrm>
          <a:prstGeom prst="roundRect">
            <a:avLst>
              <a:gd name="adj" fmla="val 8475"/>
            </a:avLst>
          </a:prstGeom>
          <a:solidFill>
            <a:srgbClr val="1A2030"/>
          </a:solidFill>
          <a:ln w="12700">
            <a:solidFill>
              <a:srgbClr val="252D3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8" name="Shape 34"/>
          <p:cNvSpPr/>
          <p:nvPr/>
        </p:nvSpPr>
        <p:spPr>
          <a:xfrm>
            <a:off x="8869680" y="4526280"/>
            <a:ext cx="73152" cy="1078992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9" name="Text 35"/>
          <p:cNvSpPr/>
          <p:nvPr/>
        </p:nvSpPr>
        <p:spPr>
          <a:xfrm>
            <a:off x="9098280" y="4690872"/>
            <a:ext cx="2057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 Save</a:t>
            </a:r>
            <a:endParaRPr lang="en-US" sz="1300" dirty="0"/>
          </a:p>
        </p:txBody>
      </p:sp>
      <p:sp>
        <p:nvSpPr>
          <p:cNvPr id="40" name="Text 36"/>
          <p:cNvSpPr/>
          <p:nvPr/>
        </p:nvSpPr>
        <p:spPr>
          <a:xfrm>
            <a:off x="9098280" y="5111496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 localStorage 保存資料，並可重置範例資料進行展示。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117"/>
          </a:solidFill>
          <a:ln w="12700">
            <a:solidFill>
              <a:srgbClr val="0F1117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6D7CFF"/>
          </a:solidFill>
          <a:ln w="12700">
            <a:solidFill>
              <a:srgbClr val="6D7C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Shape 2"/>
          <p:cNvSpPr/>
          <p:nvPr/>
        </p:nvSpPr>
        <p:spPr>
          <a:xfrm>
            <a:off x="594360" y="6355080"/>
            <a:ext cx="10972800" cy="0"/>
          </a:xfrm>
          <a:prstGeom prst="line">
            <a:avLst/>
          </a:prstGeom>
          <a:noFill/>
          <a:ln w="12700">
            <a:solidFill>
              <a:srgbClr val="252D3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/>
          <p:nvPr/>
        </p:nvSpPr>
        <p:spPr>
          <a:xfrm>
            <a:off x="594360" y="36576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實際展示流程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94360" y="64465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4809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KANBAN Lite｜期中專題報告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1292840" y="638251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74809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77240" y="1234440"/>
            <a:ext cx="10698480" cy="4389120"/>
          </a:xfrm>
          <a:prstGeom prst="roundRect">
            <a:avLst>
              <a:gd name="adj" fmla="val 2500"/>
            </a:avLst>
          </a:prstGeom>
          <a:solidFill>
            <a:srgbClr val="1A2030"/>
          </a:solidFill>
          <a:ln w="12700">
            <a:solidFill>
              <a:srgbClr val="252D3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Shape 10"/>
          <p:cNvSpPr/>
          <p:nvPr/>
        </p:nvSpPr>
        <p:spPr>
          <a:xfrm>
            <a:off x="1143000" y="1600200"/>
            <a:ext cx="384048" cy="384048"/>
          </a:xfrm>
          <a:prstGeom prst="ellipse">
            <a:avLst/>
          </a:prstGeom>
          <a:solidFill>
            <a:srgbClr val="6D7CFF"/>
          </a:solidFill>
          <a:ln w="12700">
            <a:solidFill>
              <a:srgbClr val="6D7C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Text 11"/>
          <p:cNvSpPr/>
          <p:nvPr/>
        </p:nvSpPr>
        <p:spPr>
          <a:xfrm>
            <a:off x="1143000" y="1700784"/>
            <a:ext cx="384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783080" y="1581912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查看 Dashboard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886200" y="1600200"/>
            <a:ext cx="676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先看任務總數、完成率、到期日與高優先任務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1143000" y="2350008"/>
            <a:ext cx="384048" cy="384048"/>
          </a:xfrm>
          <a:prstGeom prst="ellipse">
            <a:avLst/>
          </a:prstGeom>
          <a:solidFill>
            <a:srgbClr val="6D7CFF"/>
          </a:solidFill>
          <a:ln w="12700">
            <a:solidFill>
              <a:srgbClr val="6D7C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Text 15"/>
          <p:cNvSpPr/>
          <p:nvPr/>
        </p:nvSpPr>
        <p:spPr>
          <a:xfrm>
            <a:off x="1143000" y="2450592"/>
            <a:ext cx="384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783080" y="233172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切換到我的看板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886200" y="2350008"/>
            <a:ext cx="676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說明 To Do / In Progress / Done 三欄狀態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1143000" y="3099816"/>
            <a:ext cx="384048" cy="384048"/>
          </a:xfrm>
          <a:prstGeom prst="ellipse">
            <a:avLst/>
          </a:prstGeom>
          <a:solidFill>
            <a:srgbClr val="6D7CFF"/>
          </a:solidFill>
          <a:ln w="12700">
            <a:solidFill>
              <a:srgbClr val="6D7C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Text 19"/>
          <p:cNvSpPr/>
          <p:nvPr/>
        </p:nvSpPr>
        <p:spPr>
          <a:xfrm>
            <a:off x="1143000" y="3200400"/>
            <a:ext cx="384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783080" y="3081528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新增任務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886200" y="3099816"/>
            <a:ext cx="676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輸入標題、優先度、標籤、狀態、截止日期與描述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1143000" y="3849624"/>
            <a:ext cx="384048" cy="384048"/>
          </a:xfrm>
          <a:prstGeom prst="ellipse">
            <a:avLst/>
          </a:prstGeom>
          <a:solidFill>
            <a:srgbClr val="6D7CFF"/>
          </a:solidFill>
          <a:ln w="12700">
            <a:solidFill>
              <a:srgbClr val="6D7C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Text 23"/>
          <p:cNvSpPr/>
          <p:nvPr/>
        </p:nvSpPr>
        <p:spPr>
          <a:xfrm>
            <a:off x="1143000" y="3950208"/>
            <a:ext cx="384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783080" y="3831336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編輯 / 刪除任務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886200" y="3849624"/>
            <a:ext cx="676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展示任務資料可以修改，也有確認視窗避免誤刪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1143000" y="4599432"/>
            <a:ext cx="384048" cy="384048"/>
          </a:xfrm>
          <a:prstGeom prst="ellipse">
            <a:avLst/>
          </a:prstGeom>
          <a:solidFill>
            <a:srgbClr val="6D7CFF"/>
          </a:solidFill>
          <a:ln w="12700">
            <a:solidFill>
              <a:srgbClr val="6D7C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Text 27"/>
          <p:cNvSpPr/>
          <p:nvPr/>
        </p:nvSpPr>
        <p:spPr>
          <a:xfrm>
            <a:off x="1143000" y="4700016"/>
            <a:ext cx="384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783080" y="4581144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拖曳任務並回 Dashboard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886200" y="4599432"/>
            <a:ext cx="676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確認狀態改變後，統計數字會同步更新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117"/>
          </a:solidFill>
          <a:ln w="12700">
            <a:solidFill>
              <a:srgbClr val="0F1117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6D7CFF"/>
          </a:solidFill>
          <a:ln w="12700">
            <a:solidFill>
              <a:srgbClr val="6D7C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Shape 2"/>
          <p:cNvSpPr/>
          <p:nvPr/>
        </p:nvSpPr>
        <p:spPr>
          <a:xfrm>
            <a:off x="594360" y="6355080"/>
            <a:ext cx="10972800" cy="0"/>
          </a:xfrm>
          <a:prstGeom prst="line">
            <a:avLst/>
          </a:prstGeom>
          <a:noFill/>
          <a:ln w="12700">
            <a:solidFill>
              <a:srgbClr val="252D3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/>
          <p:nvPr/>
        </p:nvSpPr>
        <p:spPr>
          <a:xfrm>
            <a:off x="594360" y="36576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程式碼 AI 使用率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94360" y="8229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以「輔助程度」估算，分為 CSS、JavaScript、HTML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94360" y="64465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4809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KANBAN Lite｜期中專題報告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1292840" y="638251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74809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77240" y="11430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</a:t>
            </a:r>
            <a:r>
              <a:rPr lang="en-US" sz="1400" dirty="0" err="1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主要用於視覺基底、程式碼審查、debug、重構建議與觀念釐清</a:t>
            </a:r>
            <a:r>
              <a:rPr lang="zh-TW" altLang="en-US" sz="140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</a:t>
            </a:r>
            <a:r>
              <a:rPr lang="en-US" sz="1400" dirty="0" err="1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核心功能整合與測試由本人完成</a:t>
            </a:r>
            <a:r>
              <a:rPr lang="en-US" sz="140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。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14400" y="196596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CSS 視覺樣式</a:t>
            </a: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3246120" y="1984248"/>
            <a:ext cx="4846320" cy="256032"/>
          </a:xfrm>
          <a:prstGeom prst="roundRect">
            <a:avLst>
              <a:gd name="adj" fmla="val 21429"/>
            </a:avLst>
          </a:prstGeom>
          <a:solidFill>
            <a:srgbClr val="222A3D"/>
          </a:solidFill>
          <a:ln w="12700">
            <a:solidFill>
              <a:srgbClr val="252D3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Shape 12"/>
          <p:cNvSpPr/>
          <p:nvPr/>
        </p:nvSpPr>
        <p:spPr>
          <a:xfrm>
            <a:off x="3246120" y="1984248"/>
            <a:ext cx="4024630" cy="256032"/>
          </a:xfrm>
          <a:prstGeom prst="roundRect">
            <a:avLst>
              <a:gd name="adj" fmla="val 21429"/>
            </a:avLst>
          </a:prstGeom>
          <a:solidFill>
            <a:srgbClr val="6D7CFF"/>
          </a:solidFill>
          <a:ln w="12700">
            <a:solidFill>
              <a:srgbClr val="6D7C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5" name="Text 13"/>
          <p:cNvSpPr/>
          <p:nvPr/>
        </p:nvSpPr>
        <p:spPr>
          <a:xfrm>
            <a:off x="8275320" y="196596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altLang="zh-TW" sz="1300" b="1" dirty="0">
                <a:solidFill>
                  <a:srgbClr val="6D7C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85</a:t>
            </a:r>
            <a:r>
              <a:rPr lang="en-US" sz="1300" b="1" dirty="0">
                <a:solidFill>
                  <a:srgbClr val="6D7C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%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14400" y="2377440"/>
            <a:ext cx="100126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 err="1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初始風格與設計系統</a:t>
            </a:r>
            <a:r>
              <a:rPr lang="zh-TW" altLang="en-US" sz="120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多由</a:t>
            </a:r>
            <a:r>
              <a:rPr lang="en-US" sz="120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AI</a:t>
            </a:r>
            <a:r>
              <a:rPr lang="zh-TW" altLang="en-US" sz="120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進行設計，</a:t>
            </a:r>
            <a:r>
              <a:rPr lang="en-US" sz="1200" dirty="0" err="1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後續依既有規則自行延伸與調整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14400" y="310896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JavaScript 邏輯</a:t>
            </a: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3246120" y="3127248"/>
            <a:ext cx="4846320" cy="256032"/>
          </a:xfrm>
          <a:prstGeom prst="roundRect">
            <a:avLst>
              <a:gd name="adj" fmla="val 21429"/>
            </a:avLst>
          </a:prstGeom>
          <a:solidFill>
            <a:srgbClr val="222A3D"/>
          </a:solidFill>
          <a:ln w="12700">
            <a:solidFill>
              <a:srgbClr val="252D3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9" name="Shape 17"/>
          <p:cNvSpPr/>
          <p:nvPr/>
        </p:nvSpPr>
        <p:spPr>
          <a:xfrm>
            <a:off x="3246119" y="3116814"/>
            <a:ext cx="728003" cy="256032"/>
          </a:xfrm>
          <a:prstGeom prst="roundRect">
            <a:avLst>
              <a:gd name="adj" fmla="val 21429"/>
            </a:avLst>
          </a:prstGeom>
          <a:solidFill>
            <a:srgbClr val="3DD68C"/>
          </a:solidFill>
          <a:ln w="12700">
            <a:solidFill>
              <a:srgbClr val="3DD68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Text 18"/>
          <p:cNvSpPr/>
          <p:nvPr/>
        </p:nvSpPr>
        <p:spPr>
          <a:xfrm>
            <a:off x="8275320" y="310896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altLang="zh-TW" sz="1300" b="1" dirty="0">
                <a:solidFill>
                  <a:srgbClr val="3DD6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r>
              <a:rPr lang="en-US" sz="1300" b="1" dirty="0">
                <a:solidFill>
                  <a:srgbClr val="3DD6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%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14400" y="3520440"/>
            <a:ext cx="100126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 err="1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功能流程、資料整合自行完成</a:t>
            </a:r>
            <a:r>
              <a:rPr lang="zh-TW" altLang="en-US" sz="120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</a:t>
            </a:r>
            <a:r>
              <a:rPr lang="en-US" sz="120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</a:t>
            </a:r>
            <a:r>
              <a:rPr lang="zh-TW" altLang="en-US" sz="120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r>
              <a:rPr lang="en-US" sz="1200" dirty="0" err="1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用於</a:t>
            </a:r>
            <a:r>
              <a:rPr lang="en-US" sz="120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code review / debug / 重構建議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14400" y="4251960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HTML 結構</a:t>
            </a: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3246120" y="4270248"/>
            <a:ext cx="4846320" cy="256032"/>
          </a:xfrm>
          <a:prstGeom prst="roundRect">
            <a:avLst>
              <a:gd name="adj" fmla="val 21429"/>
            </a:avLst>
          </a:prstGeom>
          <a:solidFill>
            <a:srgbClr val="222A3D"/>
          </a:solidFill>
          <a:ln w="12700">
            <a:solidFill>
              <a:srgbClr val="252D3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4" name="Shape 22"/>
          <p:cNvSpPr/>
          <p:nvPr/>
        </p:nvSpPr>
        <p:spPr>
          <a:xfrm>
            <a:off x="3246120" y="4270248"/>
            <a:ext cx="728003" cy="256032"/>
          </a:xfrm>
          <a:prstGeom prst="roundRect">
            <a:avLst>
              <a:gd name="adj" fmla="val 21429"/>
            </a:avLst>
          </a:prstGeom>
          <a:solidFill>
            <a:srgbClr val="F5B942"/>
          </a:solidFill>
          <a:ln w="12700">
            <a:solidFill>
              <a:srgbClr val="F5B94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Text 23"/>
          <p:cNvSpPr/>
          <p:nvPr/>
        </p:nvSpPr>
        <p:spPr>
          <a:xfrm>
            <a:off x="8275320" y="4251960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altLang="zh-TW" sz="1300" b="1" dirty="0">
                <a:solidFill>
                  <a:srgbClr val="F5B94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r>
              <a:rPr lang="en-US" sz="1300" b="1" dirty="0">
                <a:solidFill>
                  <a:srgbClr val="F5B94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%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14400" y="4663440"/>
            <a:ext cx="100126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 err="1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頁面區塊依功能需求規劃</a:t>
            </a:r>
            <a:r>
              <a:rPr lang="zh-TW" altLang="en-US" sz="120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</a:t>
            </a:r>
            <a:r>
              <a:rPr lang="en-US" sz="120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輔助檢查與微調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68680" y="5532120"/>
            <a:ext cx="10424160" cy="658368"/>
          </a:xfrm>
          <a:prstGeom prst="roundRect">
            <a:avLst>
              <a:gd name="adj" fmla="val 13889"/>
            </a:avLst>
          </a:prstGeom>
          <a:solidFill>
            <a:srgbClr val="1A2030"/>
          </a:solidFill>
          <a:ln w="12700">
            <a:solidFill>
              <a:srgbClr val="252D3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8" name="Shape 26"/>
          <p:cNvSpPr/>
          <p:nvPr/>
        </p:nvSpPr>
        <p:spPr>
          <a:xfrm>
            <a:off x="868680" y="5532120"/>
            <a:ext cx="73152" cy="658368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Text 27"/>
          <p:cNvSpPr/>
          <p:nvPr/>
        </p:nvSpPr>
        <p:spPr>
          <a:xfrm>
            <a:off x="1097280" y="5696712"/>
            <a:ext cx="10012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方式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588672" y="5768340"/>
            <a:ext cx="8018878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>
              <a:buNone/>
            </a:pPr>
            <a:r>
              <a:rPr lang="zh-TW" altLang="en-US" sz="110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提示</a:t>
            </a:r>
            <a:r>
              <a:rPr lang="en-US" altLang="zh-TW" sz="110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r>
              <a:rPr lang="zh-TW" altLang="en-US" sz="110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不要直接生成程式碼，當遇到卡住的地方請</a:t>
            </a:r>
            <a:r>
              <a:rPr lang="en-US" altLang="zh-TW" sz="110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r>
              <a:rPr lang="zh-TW" altLang="en-US" sz="110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提供思路或</a:t>
            </a:r>
            <a:r>
              <a:rPr lang="en-US" altLang="zh-TW" sz="110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Pseudo-code </a:t>
            </a:r>
            <a:r>
              <a:rPr lang="zh-TW" altLang="en-US" sz="110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，實際 </a:t>
            </a:r>
            <a:r>
              <a:rPr lang="en-US" altLang="zh-TW" sz="110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code</a:t>
            </a:r>
            <a:r>
              <a:rPr lang="zh-TW" altLang="en-US" sz="110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由本人自行撰寫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117"/>
          </a:solidFill>
          <a:ln w="12700">
            <a:solidFill>
              <a:srgbClr val="0F1117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6D7CFF"/>
          </a:solidFill>
          <a:ln w="12700">
            <a:solidFill>
              <a:srgbClr val="6D7C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Shape 2"/>
          <p:cNvSpPr/>
          <p:nvPr/>
        </p:nvSpPr>
        <p:spPr>
          <a:xfrm>
            <a:off x="594360" y="6355080"/>
            <a:ext cx="10972800" cy="0"/>
          </a:xfrm>
          <a:prstGeom prst="line">
            <a:avLst/>
          </a:prstGeom>
          <a:noFill/>
          <a:ln w="12700">
            <a:solidFill>
              <a:srgbClr val="252D3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/>
          <p:nvPr/>
        </p:nvSpPr>
        <p:spPr>
          <a:xfrm>
            <a:off x="594360" y="36576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過程中遇到的困難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94360" y="64465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4809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KANBAN Lite｜期中專題報告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1292840" y="638251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74809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822960" y="1207008"/>
            <a:ext cx="10652760" cy="749808"/>
          </a:xfrm>
          <a:prstGeom prst="roundRect">
            <a:avLst>
              <a:gd name="adj" fmla="val 12195"/>
            </a:avLst>
          </a:prstGeom>
          <a:solidFill>
            <a:srgbClr val="1A2030"/>
          </a:solidFill>
          <a:ln w="12700">
            <a:solidFill>
              <a:srgbClr val="252D3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Shape 10"/>
          <p:cNvSpPr/>
          <p:nvPr/>
        </p:nvSpPr>
        <p:spPr>
          <a:xfrm>
            <a:off x="822960" y="1207008"/>
            <a:ext cx="73152" cy="749808"/>
          </a:xfrm>
          <a:prstGeom prst="rect">
            <a:avLst/>
          </a:prstGeom>
          <a:solidFill>
            <a:srgbClr val="6D7CFF"/>
          </a:solidFill>
          <a:ln w="12700">
            <a:solidFill>
              <a:srgbClr val="6D7C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Text 11"/>
          <p:cNvSpPr/>
          <p:nvPr/>
        </p:nvSpPr>
        <p:spPr>
          <a:xfrm>
            <a:off x="1115568" y="1371600"/>
            <a:ext cx="2880360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</a:t>
            </a:r>
            <a:r>
              <a:rPr lang="zh-TW" altLang="en-US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熟悉</a:t>
            </a:r>
            <a:r>
              <a:rPr lang="en-US" b="1" dirty="0" err="1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功能架構</a:t>
            </a:r>
            <a:r>
              <a:rPr lang="zh-TW" altLang="en-US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160520" y="1362456"/>
            <a:ext cx="6903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一開始容易只想到功能本身，較難拆出資料流、畫面流程與函式責任。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822960" y="2231136"/>
            <a:ext cx="10652760" cy="749808"/>
          </a:xfrm>
          <a:prstGeom prst="roundRect">
            <a:avLst>
              <a:gd name="adj" fmla="val 12195"/>
            </a:avLst>
          </a:prstGeom>
          <a:solidFill>
            <a:srgbClr val="1A2030"/>
          </a:solidFill>
          <a:ln w="12700">
            <a:solidFill>
              <a:srgbClr val="252D3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6" name="Shape 14"/>
          <p:cNvSpPr/>
          <p:nvPr/>
        </p:nvSpPr>
        <p:spPr>
          <a:xfrm>
            <a:off x="822960" y="2231136"/>
            <a:ext cx="73152" cy="749808"/>
          </a:xfrm>
          <a:prstGeom prst="rect">
            <a:avLst/>
          </a:prstGeom>
          <a:solidFill>
            <a:srgbClr val="F5B942"/>
          </a:solidFill>
          <a:ln w="12700">
            <a:solidFill>
              <a:srgbClr val="F5B94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7" name="Text 15"/>
          <p:cNvSpPr/>
          <p:nvPr/>
        </p:nvSpPr>
        <p:spPr>
          <a:xfrm>
            <a:off x="1115568" y="2395728"/>
            <a:ext cx="2880360" cy="418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元件化處理不夠熟悉</a:t>
            </a: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4160520" y="2386584"/>
            <a:ext cx="6903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Modal、Popover、Dashboard 等區塊還不夠乾淨，仍需要 AI 協助設計架構後再執行。</a:t>
            </a:r>
            <a:endParaRPr lang="en-US" sz="1080" dirty="0"/>
          </a:p>
        </p:txBody>
      </p:sp>
      <p:sp>
        <p:nvSpPr>
          <p:cNvPr id="19" name="Shape 17"/>
          <p:cNvSpPr/>
          <p:nvPr/>
        </p:nvSpPr>
        <p:spPr>
          <a:xfrm>
            <a:off x="822960" y="3255264"/>
            <a:ext cx="10652760" cy="749808"/>
          </a:xfrm>
          <a:prstGeom prst="roundRect">
            <a:avLst>
              <a:gd name="adj" fmla="val 12195"/>
            </a:avLst>
          </a:prstGeom>
          <a:solidFill>
            <a:srgbClr val="1A2030"/>
          </a:solidFill>
          <a:ln w="12700">
            <a:solidFill>
              <a:srgbClr val="252D3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0" name="Shape 18"/>
          <p:cNvSpPr/>
          <p:nvPr/>
        </p:nvSpPr>
        <p:spPr>
          <a:xfrm>
            <a:off x="822960" y="3255264"/>
            <a:ext cx="73152" cy="749808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1" name="Text 19"/>
          <p:cNvSpPr/>
          <p:nvPr/>
        </p:nvSpPr>
        <p:spPr>
          <a:xfrm>
            <a:off x="1115568" y="3419856"/>
            <a:ext cx="2880360" cy="4257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邊界條件與防禦性程式碼</a:t>
            </a: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4160520" y="3410712"/>
            <a:ext cx="6903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8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例如找不到資料、空資料、錯誤操作、使用者輸入等情況，一開始不容易主動想到。</a:t>
            </a:r>
            <a:endParaRPr lang="en-US" sz="1080" dirty="0"/>
          </a:p>
        </p:txBody>
      </p:sp>
      <p:sp>
        <p:nvSpPr>
          <p:cNvPr id="23" name="Shape 21"/>
          <p:cNvSpPr/>
          <p:nvPr/>
        </p:nvSpPr>
        <p:spPr>
          <a:xfrm>
            <a:off x="822960" y="4279392"/>
            <a:ext cx="10652760" cy="749808"/>
          </a:xfrm>
          <a:prstGeom prst="roundRect">
            <a:avLst>
              <a:gd name="adj" fmla="val 12195"/>
            </a:avLst>
          </a:prstGeom>
          <a:solidFill>
            <a:srgbClr val="1A2030"/>
          </a:solidFill>
          <a:ln w="12700">
            <a:solidFill>
              <a:srgbClr val="252D3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4" name="Shape 22"/>
          <p:cNvSpPr/>
          <p:nvPr/>
        </p:nvSpPr>
        <p:spPr>
          <a:xfrm>
            <a:off x="822960" y="4279392"/>
            <a:ext cx="73152" cy="749808"/>
          </a:xfrm>
          <a:prstGeom prst="rect">
            <a:avLst/>
          </a:prstGeom>
          <a:solidFill>
            <a:srgbClr val="3DD68C"/>
          </a:solidFill>
          <a:ln w="12700">
            <a:solidFill>
              <a:srgbClr val="3DD68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5" name="Text 23"/>
          <p:cNvSpPr/>
          <p:nvPr/>
        </p:nvSpPr>
        <p:spPr>
          <a:xfrm>
            <a:off x="1115568" y="4443984"/>
            <a:ext cx="2880360" cy="422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缺乏 Git 觀念</a:t>
            </a: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4160520" y="4434840"/>
            <a:ext cx="6903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80" dirty="0" err="1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常常不知道什麼時機適合</a:t>
            </a:r>
            <a:r>
              <a:rPr lang="en-US" sz="108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commit</a:t>
            </a:r>
            <a:r>
              <a:rPr lang="zh-TW" altLang="en-US" sz="108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或是開新的 </a:t>
            </a:r>
            <a:r>
              <a:rPr lang="en-US" altLang="zh-TW" sz="1080" dirty="0" err="1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branch</a:t>
            </a:r>
            <a:r>
              <a:rPr lang="en-US" sz="1080" dirty="0" err="1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，也還在學習如何用版本紀錄管理開發進度</a:t>
            </a:r>
            <a:r>
              <a:rPr lang="en-US" sz="108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。</a:t>
            </a:r>
            <a:endParaRPr lang="en-US" sz="1080" dirty="0"/>
          </a:p>
        </p:txBody>
      </p:sp>
      <p:pic>
        <p:nvPicPr>
          <p:cNvPr id="30" name="圖片 29">
            <a:extLst>
              <a:ext uri="{FF2B5EF4-FFF2-40B4-BE49-F238E27FC236}">
                <a16:creationId xmlns:a16="http://schemas.microsoft.com/office/drawing/2014/main" id="{DB8AA504-83DE-04A4-66E0-6AAC2D59CE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2065" y="1823493"/>
            <a:ext cx="1716975" cy="150949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117"/>
          </a:solidFill>
          <a:ln w="12700">
            <a:solidFill>
              <a:srgbClr val="0F1117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6D7CFF"/>
          </a:solidFill>
          <a:ln w="12700">
            <a:solidFill>
              <a:srgbClr val="6D7C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Shape 2"/>
          <p:cNvSpPr/>
          <p:nvPr/>
        </p:nvSpPr>
        <p:spPr>
          <a:xfrm>
            <a:off x="594360" y="6355080"/>
            <a:ext cx="10972800" cy="0"/>
          </a:xfrm>
          <a:prstGeom prst="line">
            <a:avLst/>
          </a:prstGeom>
          <a:noFill/>
          <a:ln w="12700">
            <a:solidFill>
              <a:srgbClr val="252D3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Text 3"/>
          <p:cNvSpPr/>
          <p:nvPr/>
        </p:nvSpPr>
        <p:spPr>
          <a:xfrm>
            <a:off x="594360" y="36576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資料來源與使用工具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94360" y="8229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 err="1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報告引用來源與開發過程中使用的工具整理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94360" y="644652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4809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KANBAN Lite｜期中專題報告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109960" y="6382512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748094"/>
                </a:solidFill>
                <a:latin typeface="Microsoft JhengHei" pitchFamily="34" charset="0"/>
                <a:ea typeface="Microsoft JhengHei" pitchFamily="34" charset="-122"/>
              </a:rPr>
              <a:t>09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777240" y="1325880"/>
            <a:ext cx="5440680" cy="4526280"/>
          </a:xfrm>
          <a:prstGeom prst="roundRect">
            <a:avLst>
              <a:gd name="adj" fmla="val 2626"/>
            </a:avLst>
          </a:prstGeom>
          <a:solidFill>
            <a:srgbClr val="1A2030"/>
          </a:solidFill>
          <a:ln w="12700">
            <a:solidFill>
              <a:srgbClr val="252D3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0" name="Shape 8"/>
          <p:cNvSpPr/>
          <p:nvPr/>
        </p:nvSpPr>
        <p:spPr>
          <a:xfrm>
            <a:off x="777240" y="1325880"/>
            <a:ext cx="82296" cy="4526280"/>
          </a:xfrm>
          <a:prstGeom prst="rect">
            <a:avLst/>
          </a:prstGeom>
          <a:solidFill>
            <a:srgbClr val="6D7CFF"/>
          </a:solidFill>
          <a:ln w="12700">
            <a:solidFill>
              <a:srgbClr val="6D7C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1" name="Text 9"/>
          <p:cNvSpPr/>
          <p:nvPr/>
        </p:nvSpPr>
        <p:spPr>
          <a:xfrm>
            <a:off x="1033272" y="150876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資料來源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1051560" y="1947672"/>
            <a:ext cx="210312" cy="210312"/>
          </a:xfrm>
          <a:prstGeom prst="ellipse">
            <a:avLst/>
          </a:prstGeom>
          <a:solidFill>
            <a:srgbClr val="6D7CFF"/>
          </a:solidFill>
          <a:ln w="12700">
            <a:solidFill>
              <a:srgbClr val="6D7C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4" name="Text 12"/>
          <p:cNvSpPr/>
          <p:nvPr/>
        </p:nvSpPr>
        <p:spPr>
          <a:xfrm>
            <a:off x="1399032" y="1901952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什麼是 Kanban？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99032" y="2148840"/>
            <a:ext cx="4389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A7B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https://asana.com/zh-tw/resources/what-is-kanban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051560" y="2816352"/>
            <a:ext cx="210312" cy="210312"/>
          </a:xfrm>
          <a:prstGeom prst="ellipse">
            <a:avLst/>
          </a:prstGeom>
          <a:solidFill>
            <a:srgbClr val="3DD68C"/>
          </a:solidFill>
          <a:ln w="12700">
            <a:solidFill>
              <a:srgbClr val="3DD68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8" name="Text 16"/>
          <p:cNvSpPr/>
          <p:nvPr/>
        </p:nvSpPr>
        <p:spPr>
          <a:xfrm>
            <a:off x="1399032" y="2770632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Material Symbols / Icons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399032" y="3017520"/>
            <a:ext cx="4389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A7B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https://fonts.google.com/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051560" y="3685032"/>
            <a:ext cx="210312" cy="210312"/>
          </a:xfrm>
          <a:prstGeom prst="ellipse">
            <a:avLst/>
          </a:prstGeom>
          <a:solidFill>
            <a:srgbClr val="F5B942"/>
          </a:solidFill>
          <a:ln w="12700">
            <a:solidFill>
              <a:srgbClr val="F5B94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2" name="Text 20"/>
          <p:cNvSpPr/>
          <p:nvPr/>
        </p:nvSpPr>
        <p:spPr>
          <a:xfrm>
            <a:off x="1399032" y="3639312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網頁標題 Logo / Icon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399032" y="3886200"/>
            <a:ext cx="4389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A7B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https://www.flaticon.com/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051560" y="4553712"/>
            <a:ext cx="210312" cy="210312"/>
          </a:xfrm>
          <a:prstGeom prst="ellipse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6" name="Text 24"/>
          <p:cNvSpPr/>
          <p:nvPr/>
        </p:nvSpPr>
        <p:spPr>
          <a:xfrm>
            <a:off x="1399032" y="4507992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側邊欄設計參考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399032" y="4754880"/>
            <a:ext cx="4389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A7B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https://codelove.tw/@tony/post/AqJM1a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46520" y="1325880"/>
            <a:ext cx="4983480" cy="4526280"/>
          </a:xfrm>
          <a:prstGeom prst="roundRect">
            <a:avLst>
              <a:gd name="adj" fmla="val 2626"/>
            </a:avLst>
          </a:prstGeom>
          <a:solidFill>
            <a:srgbClr val="1A2030"/>
          </a:solidFill>
          <a:ln w="12700">
            <a:solidFill>
              <a:srgbClr val="252D3D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9" name="Shape 27"/>
          <p:cNvSpPr/>
          <p:nvPr/>
        </p:nvSpPr>
        <p:spPr>
          <a:xfrm>
            <a:off x="6446520" y="1325880"/>
            <a:ext cx="82296" cy="4526280"/>
          </a:xfrm>
          <a:prstGeom prst="rect">
            <a:avLst/>
          </a:prstGeom>
          <a:solidFill>
            <a:srgbClr val="3DD68C"/>
          </a:solidFill>
          <a:ln w="12700">
            <a:solidFill>
              <a:srgbClr val="3DD68C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0" name="Text 28"/>
          <p:cNvSpPr/>
          <p:nvPr/>
        </p:nvSpPr>
        <p:spPr>
          <a:xfrm>
            <a:off x="6702552" y="15087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使用工具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6720840" y="19019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開發技術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720840" y="2221992"/>
            <a:ext cx="960120" cy="384048"/>
          </a:xfrm>
          <a:prstGeom prst="roundRect">
            <a:avLst>
              <a:gd name="adj" fmla="val 21429"/>
            </a:avLst>
          </a:prstGeom>
          <a:solidFill>
            <a:srgbClr val="222A3D"/>
          </a:solidFill>
          <a:ln w="12700">
            <a:solidFill>
              <a:srgbClr val="6D7CF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3" name="Text 31"/>
          <p:cNvSpPr/>
          <p:nvPr/>
        </p:nvSpPr>
        <p:spPr>
          <a:xfrm>
            <a:off x="6793992" y="2221992"/>
            <a:ext cx="813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HTML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7818120" y="2221992"/>
            <a:ext cx="868680" cy="384048"/>
          </a:xfrm>
          <a:prstGeom prst="roundRect">
            <a:avLst>
              <a:gd name="adj" fmla="val 21429"/>
            </a:avLst>
          </a:prstGeom>
          <a:solidFill>
            <a:srgbClr val="222A3D"/>
          </a:solidFill>
          <a:ln w="12700">
            <a:solidFill>
              <a:srgbClr val="6D7CF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5" name="Text 33"/>
          <p:cNvSpPr/>
          <p:nvPr/>
        </p:nvSpPr>
        <p:spPr>
          <a:xfrm>
            <a:off x="7891272" y="2240280"/>
            <a:ext cx="72237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CSS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823960" y="2221992"/>
            <a:ext cx="1325880" cy="384048"/>
          </a:xfrm>
          <a:prstGeom prst="roundRect">
            <a:avLst>
              <a:gd name="adj" fmla="val 21429"/>
            </a:avLst>
          </a:prstGeom>
          <a:solidFill>
            <a:srgbClr val="222A3D"/>
          </a:solidFill>
          <a:ln w="12700">
            <a:solidFill>
              <a:srgbClr val="6D7CF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7" name="Text 35"/>
          <p:cNvSpPr/>
          <p:nvPr/>
        </p:nvSpPr>
        <p:spPr>
          <a:xfrm>
            <a:off x="8897112" y="2240280"/>
            <a:ext cx="117957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JavaScript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0287000" y="2221992"/>
            <a:ext cx="868680" cy="384048"/>
          </a:xfrm>
          <a:prstGeom prst="roundRect">
            <a:avLst>
              <a:gd name="adj" fmla="val 21429"/>
            </a:avLst>
          </a:prstGeom>
          <a:solidFill>
            <a:srgbClr val="222A3D"/>
          </a:solidFill>
          <a:ln w="12700">
            <a:solidFill>
              <a:srgbClr val="6D7CFF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9" name="Text 37"/>
          <p:cNvSpPr/>
          <p:nvPr/>
        </p:nvSpPr>
        <p:spPr>
          <a:xfrm>
            <a:off x="10360152" y="2240280"/>
            <a:ext cx="72237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jQuery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6720840" y="2697480"/>
            <a:ext cx="1508760" cy="384048"/>
          </a:xfrm>
          <a:prstGeom prst="roundRect">
            <a:avLst>
              <a:gd name="adj" fmla="val 21429"/>
            </a:avLst>
          </a:prstGeom>
          <a:solidFill>
            <a:srgbClr val="222A3D"/>
          </a:solidFill>
          <a:ln w="12700">
            <a:solidFill>
              <a:srgbClr val="F5B942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1" name="Text 39"/>
          <p:cNvSpPr/>
          <p:nvPr/>
        </p:nvSpPr>
        <p:spPr>
          <a:xfrm>
            <a:off x="6787896" y="2697480"/>
            <a:ext cx="1362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localStorage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720840" y="338328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開發與測試環境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6720840" y="3703320"/>
            <a:ext cx="1143000" cy="384048"/>
          </a:xfrm>
          <a:prstGeom prst="roundRect">
            <a:avLst>
              <a:gd name="adj" fmla="val 21429"/>
            </a:avLst>
          </a:prstGeom>
          <a:solidFill>
            <a:srgbClr val="222A3D"/>
          </a:solidFill>
          <a:ln w="12700">
            <a:solidFill>
              <a:srgbClr val="3DD68C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4" name="Text 42"/>
          <p:cNvSpPr/>
          <p:nvPr/>
        </p:nvSpPr>
        <p:spPr>
          <a:xfrm>
            <a:off x="6793992" y="3721608"/>
            <a:ext cx="996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VS Code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8001000" y="3703320"/>
            <a:ext cx="1417320" cy="384048"/>
          </a:xfrm>
          <a:prstGeom prst="roundRect">
            <a:avLst>
              <a:gd name="adj" fmla="val 21429"/>
            </a:avLst>
          </a:prstGeom>
          <a:solidFill>
            <a:srgbClr val="222A3D"/>
          </a:solidFill>
          <a:ln w="12700">
            <a:solidFill>
              <a:srgbClr val="3DD68C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6" name="Text 44"/>
          <p:cNvSpPr/>
          <p:nvPr/>
        </p:nvSpPr>
        <p:spPr>
          <a:xfrm>
            <a:off x="8074152" y="3721608"/>
            <a:ext cx="12710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Live Server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9555480" y="3703320"/>
            <a:ext cx="1600200" cy="384048"/>
          </a:xfrm>
          <a:prstGeom prst="roundRect">
            <a:avLst>
              <a:gd name="adj" fmla="val 21429"/>
            </a:avLst>
          </a:prstGeom>
          <a:solidFill>
            <a:srgbClr val="222A3D"/>
          </a:solidFill>
          <a:ln w="12700">
            <a:solidFill>
              <a:srgbClr val="3DD68C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8" name="Text 46"/>
          <p:cNvSpPr/>
          <p:nvPr/>
        </p:nvSpPr>
        <p:spPr>
          <a:xfrm>
            <a:off x="9628632" y="3721608"/>
            <a:ext cx="1453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Chrome DevTools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6720840" y="4178808"/>
            <a:ext cx="1600200" cy="384048"/>
          </a:xfrm>
          <a:prstGeom prst="roundRect">
            <a:avLst>
              <a:gd name="adj" fmla="val 21429"/>
            </a:avLst>
          </a:prstGeom>
          <a:solidFill>
            <a:srgbClr val="222A3D"/>
          </a:solidFill>
          <a:ln w="12700">
            <a:solidFill>
              <a:srgbClr val="3DD68C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0" name="Text 48"/>
          <p:cNvSpPr/>
          <p:nvPr/>
        </p:nvSpPr>
        <p:spPr>
          <a:xfrm>
            <a:off x="6793992" y="4215384"/>
            <a:ext cx="145389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 / GitHub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6720840" y="48646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輔助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6720840" y="5184648"/>
            <a:ext cx="1234440" cy="384048"/>
          </a:xfrm>
          <a:prstGeom prst="roundRect">
            <a:avLst>
              <a:gd name="adj" fmla="val 21429"/>
            </a:avLst>
          </a:prstGeom>
          <a:solidFill>
            <a:srgbClr val="222A3D"/>
          </a:solidFill>
          <a:ln w="12700">
            <a:solidFill>
              <a:srgbClr val="FF6B6B">
                <a:alpha val="6500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3" name="Text 51"/>
          <p:cNvSpPr/>
          <p:nvPr/>
        </p:nvSpPr>
        <p:spPr>
          <a:xfrm>
            <a:off x="6793992" y="5202936"/>
            <a:ext cx="10881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3F4F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ChatGPT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8138160" y="5202936"/>
            <a:ext cx="287909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A7B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用於觀念釐清、程式碼審查、debug、重構方向與簡報內容整理。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274</TotalTime>
  <Words>1443</Words>
  <Application>Microsoft Office PowerPoint</Application>
  <PresentationFormat>寬螢幕</PresentationFormat>
  <Paragraphs>159</Paragraphs>
  <Slides>9</Slides>
  <Notes>9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9</vt:i4>
      </vt:variant>
    </vt:vector>
  </HeadingPairs>
  <TitlesOfParts>
    <vt:vector size="12" baseType="lpstr">
      <vt:lpstr>Microsoft JhengHei</vt:lpstr>
      <vt:lpstr>Arial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KANBAN Lite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KANBAN Lite 期中專題報告</dc:title>
  <dc:subject>5分鐘期中專題簡報</dc:subject>
  <dc:creator>LU WEI</dc:creator>
  <cp:lastModifiedBy>Wiston L</cp:lastModifiedBy>
  <cp:revision>26</cp:revision>
  <dcterms:created xsi:type="dcterms:W3CDTF">2026-06-01T02:15:38Z</dcterms:created>
  <dcterms:modified xsi:type="dcterms:W3CDTF">2026-06-01T13:55:52Z</dcterms:modified>
</cp:coreProperties>
</file>